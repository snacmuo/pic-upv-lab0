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2"/>
  </p:notesMasterIdLst>
  <p:handoutMasterIdLst>
    <p:handoutMasterId r:id="rId13"/>
  </p:handoutMasterIdLst>
  <p:sldIdLst>
    <p:sldId id="256" r:id="rId2"/>
    <p:sldId id="289" r:id="rId3"/>
    <p:sldId id="290" r:id="rId4"/>
    <p:sldId id="295" r:id="rId5"/>
    <p:sldId id="296" r:id="rId6"/>
    <p:sldId id="297" r:id="rId7"/>
    <p:sldId id="293" r:id="rId8"/>
    <p:sldId id="298" r:id="rId9"/>
    <p:sldId id="299" r:id="rId10"/>
    <p:sldId id="288" r:id="rId1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2B70BE-D945-421A-8843-7BFE17E8B716}" v="1" dt="2026-02-03T12:25:46.74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49" autoAdjust="0"/>
    <p:restoredTop sz="95033" autoAdjust="0"/>
  </p:normalViewPr>
  <p:slideViewPr>
    <p:cSldViewPr>
      <p:cViewPr varScale="1">
        <p:scale>
          <a:sx n="127" d="100"/>
          <a:sy n="127" d="100"/>
        </p:scale>
        <p:origin x="1176" y="19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delSld modSld">
      <pc:chgData name="Christian Camilo Cano Vasquez" userId="8c73a2a4-758b-4e34-81ed-39462e48bd92" providerId="ADAL" clId="{E6287060-0277-4BCC-9556-78F4A9113EC4}" dt="2026-02-03T12:26:13.728" v="13" actId="20577"/>
      <pc:docMkLst>
        <pc:docMk/>
      </pc:docMkLst>
      <pc:sldChg chg="modSp mod">
        <pc:chgData name="Christian Camilo Cano Vasquez" userId="8c73a2a4-758b-4e34-81ed-39462e48bd92" providerId="ADAL" clId="{E6287060-0277-4BCC-9556-78F4A9113EC4}" dt="2026-02-03T12:26:13.728" v="13" actId="20577"/>
        <pc:sldMkLst>
          <pc:docMk/>
          <pc:sldMk cId="560234623" sldId="289"/>
        </pc:sldMkLst>
        <pc:spChg chg="mod">
          <ac:chgData name="Christian Camilo Cano Vasquez" userId="8c73a2a4-758b-4e34-81ed-39462e48bd92" providerId="ADAL" clId="{E6287060-0277-4BCC-9556-78F4A9113EC4}" dt="2026-02-03T12:26:13.728" v="13" actId="20577"/>
          <ac:spMkLst>
            <pc:docMk/>
            <pc:sldMk cId="560234623" sldId="289"/>
            <ac:spMk id="4" creationId="{9F7BC140-B3D8-C3CB-55AD-9064C7CDE9CA}"/>
          </ac:spMkLst>
        </pc:spChg>
      </pc:sldChg>
      <pc:sldChg chg="del">
        <pc:chgData name="Christian Camilo Cano Vasquez" userId="8c73a2a4-758b-4e34-81ed-39462e48bd92" providerId="ADAL" clId="{E6287060-0277-4BCC-9556-78F4A9113EC4}" dt="2026-02-03T12:24:53.171" v="0" actId="47"/>
        <pc:sldMkLst>
          <pc:docMk/>
          <pc:sldMk cId="3712356003" sldId="291"/>
        </pc:sldMkLst>
      </pc:sldChg>
      <pc:sldChg chg="modSp mod">
        <pc:chgData name="Christian Camilo Cano Vasquez" userId="8c73a2a4-758b-4e34-81ed-39462e48bd92" providerId="ADAL" clId="{E6287060-0277-4BCC-9556-78F4A9113EC4}" dt="2026-02-03T12:25:25.147" v="3" actId="115"/>
        <pc:sldMkLst>
          <pc:docMk/>
          <pc:sldMk cId="3660438245" sldId="293"/>
        </pc:sldMkLst>
        <pc:spChg chg="mod">
          <ac:chgData name="Christian Camilo Cano Vasquez" userId="8c73a2a4-758b-4e34-81ed-39462e48bd92" providerId="ADAL" clId="{E6287060-0277-4BCC-9556-78F4A9113EC4}" dt="2026-02-03T12:25:25.147" v="3" actId="115"/>
          <ac:spMkLst>
            <pc:docMk/>
            <pc:sldMk cId="3660438245" sldId="293"/>
            <ac:spMk id="4" creationId="{D838A93A-BFC8-0124-93CE-FDC193435A0C}"/>
          </ac:spMkLst>
        </pc:spChg>
        <pc:spChg chg="mod">
          <ac:chgData name="Christian Camilo Cano Vasquez" userId="8c73a2a4-758b-4e34-81ed-39462e48bd92" providerId="ADAL" clId="{E6287060-0277-4BCC-9556-78F4A9113EC4}" dt="2026-02-03T12:25:18.697" v="1" actId="20577"/>
          <ac:spMkLst>
            <pc:docMk/>
            <pc:sldMk cId="3660438245" sldId="293"/>
            <ac:spMk id="16" creationId="{742C31CE-19F0-B995-0997-9A2D6A879BF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2/3/26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2/3/26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0.2.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0.2.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0.2.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0.2.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0.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8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0.2.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Student:Sergi</a:t>
            </a:r>
            <a:r>
              <a:rPr lang="es-ES" spc="165" dirty="0">
                <a:latin typeface="Arial"/>
                <a:cs typeface="Arial"/>
              </a:rPr>
              <a:t> </a:t>
            </a:r>
            <a:r>
              <a:rPr lang="es-ES" spc="165" dirty="0" err="1">
                <a:latin typeface="Arial"/>
                <a:cs typeface="Arial"/>
              </a:rPr>
              <a:t>Nàcher</a:t>
            </a:r>
            <a:r>
              <a:rPr lang="es-ES" spc="165" dirty="0">
                <a:latin typeface="Arial"/>
                <a:cs typeface="Arial"/>
              </a:rPr>
              <a:t> Muñoz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n-US" kern="0" dirty="0">
                <a:solidFill>
                  <a:sysClr val="windowText" lastClr="000000"/>
                </a:solidFill>
                <a:sym typeface="Wingdings" pitchFamily="2" charset="2"/>
                <a:hlinkClick r:id="rId4"/>
              </a:rPr>
              <a:t>https://github.com/cccanvas-upv/pic-upv-lab0.git</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a:solidFill>
                  <a:sysClr val="windowText" lastClr="000000"/>
                </a:solidFill>
              </a:rPr>
              <a:t>020_COUPLERS_Student.ipynb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D0F8CF3B-B920-DBFC-F825-0C87B51EADA7}"/>
                  </a:ext>
                </a:extLst>
              </p:cNvPr>
              <p:cNvSpPr txBox="1"/>
              <p:nvPr/>
            </p:nvSpPr>
            <p:spPr>
              <a:xfrm>
                <a:off x="543456" y="3774468"/>
                <a:ext cx="11199971" cy="230832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a:t>
                </a:r>
                <a14:m>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𝐿</m:t>
                        </m:r>
                      </m:e>
                      <m:sub>
                        <m:r>
                          <a:rPr lang="es-ES" sz="1200" b="0" i="1" smtClean="0">
                            <a:latin typeface="Cambria Math" panose="02040503050406030204" pitchFamily="18" charset="0"/>
                          </a:rPr>
                          <m:t>𝜋</m:t>
                        </m:r>
                      </m:sub>
                    </m:sSub>
                  </m:oMath>
                </a14:m>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que usar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los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de los </a:t>
                </a:r>
                <a:r>
                  <a:rPr lang="en-US" sz="1200" dirty="0" err="1">
                    <a:latin typeface="Arial" panose="020B0604020202020204" pitchFamily="34" charset="0"/>
                    <a:cs typeface="Arial" panose="020B0604020202020204" pitchFamily="34" charset="0"/>
                  </a:rPr>
                  <a:t>supermodos</a:t>
                </a:r>
                <a:r>
                  <a:rPr lang="en-US" sz="1200" dirty="0">
                    <a:latin typeface="Arial" panose="020B0604020202020204" pitchFamily="34" charset="0"/>
                    <a:cs typeface="Arial" panose="020B0604020202020204" pitchFamily="34" charset="0"/>
                  </a:rPr>
                  <a:t> pares e </a:t>
                </a:r>
                <a:r>
                  <a:rPr lang="en-US" sz="1200" dirty="0" err="1">
                    <a:latin typeface="Arial" panose="020B0604020202020204" pitchFamily="34" charset="0"/>
                    <a:cs typeface="Arial" panose="020B0604020202020204" pitchFamily="34" charset="0"/>
                  </a:rPr>
                  <a:t>impares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sección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cruzada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tanto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TE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TM. La formula para </a:t>
                </a:r>
                <a:r>
                  <a:rPr lang="en-US" sz="1200" dirty="0" err="1">
                    <a:latin typeface="Arial" panose="020B0604020202020204" pitchFamily="34" charset="0"/>
                    <a:cs typeface="Arial" panose="020B0604020202020204" pitchFamily="34" charset="0"/>
                  </a:rPr>
                  <a:t>hallar</a:t>
                </a:r>
                <a:r>
                  <a:rPr lang="en-US" sz="1200" dirty="0">
                    <a:latin typeface="Arial" panose="020B0604020202020204" pitchFamily="34" charset="0"/>
                    <a:cs typeface="Arial" panose="020B0604020202020204" pitchFamily="34" charset="0"/>
                  </a:rPr>
                  <a:t> la longitude de batido es </a:t>
                </a:r>
                <a:r>
                  <a:rPr lang="en-US" sz="1200" dirty="0">
                    <a:latin typeface="Arial" panose="020B0604020202020204" pitchFamily="34" charset="0"/>
                    <a:cs typeface="Arial" panose="020B0604020202020204" pitchFamily="34" charset="0"/>
                    <a:sym typeface="Wingdings" panose="05000000000000000000" pitchFamily="2" charset="2"/>
                  </a:rPr>
                  <a:t>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0.5*</a:t>
                </a:r>
                <a:r>
                  <a:rPr lang="en-US" sz="1200" dirty="0" err="1">
                    <a:latin typeface="Arial" panose="020B0604020202020204" pitchFamily="34" charset="0"/>
                    <a:cs typeface="Arial" panose="020B0604020202020204" pitchFamily="34" charset="0"/>
                  </a:rPr>
                  <a:t>lambda_c</a:t>
                </a:r>
                <a:r>
                  <a:rPr lang="en-US" sz="1200" dirty="0">
                    <a:latin typeface="Arial" panose="020B0604020202020204" pitchFamily="34" charset="0"/>
                    <a:cs typeface="Arial" panose="020B0604020202020204" pitchFamily="34" charset="0"/>
                  </a:rPr>
                  <a:t>/(</a:t>
                </a:r>
                <a:r>
                  <a:rPr lang="pt-BR" sz="1200" dirty="0" err="1">
                    <a:latin typeface="Arial" panose="020B0604020202020204" pitchFamily="34" charset="0"/>
                    <a:cs typeface="Arial" panose="020B0604020202020204" pitchFamily="34" charset="0"/>
                  </a:rPr>
                  <a:t>n_e</a:t>
                </a:r>
                <a:r>
                  <a:rPr lang="pt-BR" sz="1200" dirty="0">
                    <a:latin typeface="Arial" panose="020B0604020202020204" pitchFamily="34" charset="0"/>
                    <a:cs typeface="Arial" panose="020B0604020202020204" pitchFamily="34" charset="0"/>
                  </a:rPr>
                  <a:t> - </a:t>
                </a:r>
                <a:r>
                  <a:rPr lang="pt-BR" sz="1200" dirty="0" err="1">
                    <a:latin typeface="Arial" panose="020B0604020202020204" pitchFamily="34" charset="0"/>
                    <a:cs typeface="Arial" panose="020B0604020202020204" pitchFamily="34" charset="0"/>
                  </a:rPr>
                  <a:t>n_o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D0F8CF3B-B920-DBFC-F825-0C87B51EADA7}"/>
                  </a:ext>
                </a:extLst>
              </p:cNvPr>
              <p:cNvSpPr txBox="1">
                <a:spLocks noRot="1" noChangeAspect="1" noMove="1" noResize="1" noEditPoints="1" noAdjustHandles="1" noChangeArrowheads="1" noChangeShapeType="1" noTextEdit="1"/>
              </p:cNvSpPr>
              <p:nvPr/>
            </p:nvSpPr>
            <p:spPr>
              <a:xfrm>
                <a:off x="543456" y="3774468"/>
                <a:ext cx="11199971" cy="2308324"/>
              </a:xfrm>
              <a:prstGeom prst="rect">
                <a:avLst/>
              </a:prstGeom>
              <a:blipFill>
                <a:blip r:embed="rId6"/>
                <a:stretch>
                  <a:fillRect/>
                </a:stretch>
              </a:blipFill>
              <a:ln w="28575">
                <a:solidFill>
                  <a:srgbClr val="E0700D"/>
                </a:solidFill>
              </a:ln>
            </p:spPr>
            <p:txBody>
              <a:bodyPr/>
              <a:lstStyle/>
              <a:p>
                <a:r>
                  <a:rPr lang="es-ES">
                    <a:noFill/>
                  </a:rPr>
                  <a:t> </a:t>
                </a:r>
              </a:p>
            </p:txBody>
          </p:sp>
        </mc:Fallback>
      </mc:AlternateContent>
      <p:pic>
        <p:nvPicPr>
          <p:cNvPr id="6" name="Imagen 5">
            <a:extLst>
              <a:ext uri="{FF2B5EF4-FFF2-40B4-BE49-F238E27FC236}">
                <a16:creationId xmlns:a16="http://schemas.microsoft.com/office/drawing/2014/main" id="{11DE5FBC-CB21-4435-AB97-167E5CDC3BAB}"/>
              </a:ext>
            </a:extLst>
          </p:cNvPr>
          <p:cNvPicPr>
            <a:picLocks noChangeAspect="1"/>
          </p:cNvPicPr>
          <p:nvPr/>
        </p:nvPicPr>
        <p:blipFill>
          <a:blip r:embed="rId7"/>
          <a:stretch>
            <a:fillRect/>
          </a:stretch>
        </p:blipFill>
        <p:spPr>
          <a:xfrm>
            <a:off x="3886200" y="4648200"/>
            <a:ext cx="3876144" cy="1309870"/>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CBD5F6C9-C94E-4972-A435-0A8F21321D59}"/>
              </a:ext>
            </a:extLst>
          </p:cNvPr>
          <p:cNvSpPr>
            <a:spLocks noGrp="1"/>
          </p:cNvSpPr>
          <p:nvPr>
            <p:ph type="body" idx="1"/>
          </p:nvPr>
        </p:nvSpPr>
        <p:spPr>
          <a:xfrm>
            <a:off x="601133" y="1447800"/>
            <a:ext cx="10972800" cy="2154436"/>
          </a:xfrm>
        </p:spPr>
        <p:txBody>
          <a:bodyPr/>
          <a:lstStyle/>
          <a:p>
            <a:r>
              <a:rPr lang="es-ES" sz="1400" dirty="0"/>
              <a:t>Índices efectivos para los 6 primeros modos:</a:t>
            </a:r>
          </a:p>
          <a:p>
            <a:r>
              <a:rPr lang="es-ES" sz="1400" dirty="0"/>
              <a:t>[1.60942484+1.02849974e-04j 1.60116589+9.83178135e-05j</a:t>
            </a:r>
          </a:p>
          <a:p>
            <a:r>
              <a:rPr lang="es-ES" sz="1400" dirty="0"/>
              <a:t> 1.53540293+1.77367472e-04j 1.52057329+1.77190584e-04j</a:t>
            </a:r>
          </a:p>
          <a:p>
            <a:r>
              <a:rPr lang="es-ES" sz="1400" dirty="0"/>
              <a:t> 1.45637592+1.78980401e-04j 1.44042642+2.10123701e-04j]</a:t>
            </a:r>
          </a:p>
          <a:p>
            <a:r>
              <a:rPr lang="es-ES" sz="1400" dirty="0"/>
              <a:t>Si nos fijamos en la parte real, podemos observar que se propagan los 5 primeros modos menos el último, ya que este ve un índice efectivo menor al del </a:t>
            </a:r>
            <a:r>
              <a:rPr lang="es-ES" sz="1400" dirty="0" err="1"/>
              <a:t>cladding</a:t>
            </a:r>
            <a:r>
              <a:rPr lang="es-ES" sz="1400" dirty="0"/>
              <a:t> (1.44).</a:t>
            </a:r>
          </a:p>
          <a:p>
            <a:endParaRPr lang="es-ES" sz="1400" dirty="0"/>
          </a:p>
          <a:p>
            <a:r>
              <a:rPr lang="es-ES" sz="1400" dirty="0"/>
              <a:t>Análisis del porcentaje de TE de cada modo:</a:t>
            </a:r>
          </a:p>
          <a:p>
            <a:r>
              <a:rPr lang="en-US" sz="1400" dirty="0"/>
              <a:t>array([0.994898  , 0.99527537, 0.00888064, 0.01130183, 0.97648502, 0.35301659])</a:t>
            </a:r>
          </a:p>
          <a:p>
            <a:r>
              <a:rPr lang="es-ES" sz="1400" dirty="0"/>
              <a:t>Podemos observar que los modos que serán más TE son el 1,2 y 5, mientras que los otros tres tendrán mayor componente TM.</a:t>
            </a:r>
          </a:p>
        </p:txBody>
      </p:sp>
      <p:sp>
        <p:nvSpPr>
          <p:cNvPr id="4" name="Marcador de pie de página 3">
            <a:extLst>
              <a:ext uri="{FF2B5EF4-FFF2-40B4-BE49-F238E27FC236}">
                <a16:creationId xmlns:a16="http://schemas.microsoft.com/office/drawing/2014/main" id="{E0CD65A1-9D4A-4D1C-AFBB-431764CDB3F0}"/>
              </a:ext>
            </a:extLst>
          </p:cNvPr>
          <p:cNvSpPr>
            <a:spLocks noGrp="1"/>
          </p:cNvSpPr>
          <p:nvPr>
            <p:ph type="ftr" sz="quarter" idx="5"/>
          </p:nvPr>
        </p:nvSpPr>
        <p:spPr/>
        <p:txBody>
          <a:bodyPr/>
          <a:lstStyle/>
          <a:p>
            <a:pPr marL="12700">
              <a:spcBef>
                <a:spcPts val="15"/>
              </a:spcBef>
            </a:pPr>
            <a:r>
              <a:rPr lang="es-ES" spc="-5" dirty="0"/>
              <a:t>LAB 0.2. COUPLERS</a:t>
            </a:r>
          </a:p>
        </p:txBody>
      </p:sp>
      <p:sp>
        <p:nvSpPr>
          <p:cNvPr id="5" name="Marcador de número de diapositiva 4">
            <a:extLst>
              <a:ext uri="{FF2B5EF4-FFF2-40B4-BE49-F238E27FC236}">
                <a16:creationId xmlns:a16="http://schemas.microsoft.com/office/drawing/2014/main" id="{8FE1C107-890A-49C8-B1C9-17571AEBDB76}"/>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19" name="object 16">
            <a:extLst>
              <a:ext uri="{FF2B5EF4-FFF2-40B4-BE49-F238E27FC236}">
                <a16:creationId xmlns:a16="http://schemas.microsoft.com/office/drawing/2014/main" id="{8AFCDEA1-211D-4C75-AC9E-88A4F8E1B393}"/>
              </a:ext>
            </a:extLst>
          </p:cNvPr>
          <p:cNvSpPr txBox="1">
            <a:spLocks noGrp="1"/>
          </p:cNvSpPr>
          <p:nvPr>
            <p:ph type="title"/>
          </p:nvPr>
        </p:nvSpPr>
        <p:spPr>
          <a:xfrm>
            <a:off x="590550" y="206375"/>
            <a:ext cx="10991850" cy="30797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spTree>
    <p:extLst>
      <p:ext uri="{BB962C8B-B14F-4D97-AF65-F5344CB8AC3E}">
        <p14:creationId xmlns:p14="http://schemas.microsoft.com/office/powerpoint/2010/main" val="25762723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0CD65A1-9D4A-4D1C-AFBB-431764CDB3F0}"/>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5" name="Marcador de número de diapositiva 4">
            <a:extLst>
              <a:ext uri="{FF2B5EF4-FFF2-40B4-BE49-F238E27FC236}">
                <a16:creationId xmlns:a16="http://schemas.microsoft.com/office/drawing/2014/main" id="{8FE1C107-890A-49C8-B1C9-17571AEBDB76}"/>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19" name="object 16">
            <a:extLst>
              <a:ext uri="{FF2B5EF4-FFF2-40B4-BE49-F238E27FC236}">
                <a16:creationId xmlns:a16="http://schemas.microsoft.com/office/drawing/2014/main" id="{8AFCDEA1-211D-4C75-AC9E-88A4F8E1B393}"/>
              </a:ext>
            </a:extLst>
          </p:cNvPr>
          <p:cNvSpPr txBox="1">
            <a:spLocks noGrp="1"/>
          </p:cNvSpPr>
          <p:nvPr>
            <p:ph type="title"/>
          </p:nvPr>
        </p:nvSpPr>
        <p:spPr>
          <a:xfrm>
            <a:off x="590550" y="206375"/>
            <a:ext cx="10991850" cy="30797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20" name="Imagen 19">
            <a:extLst>
              <a:ext uri="{FF2B5EF4-FFF2-40B4-BE49-F238E27FC236}">
                <a16:creationId xmlns:a16="http://schemas.microsoft.com/office/drawing/2014/main" id="{DD61F9A8-8DE6-4E15-99D3-7C3785E6868A}"/>
              </a:ext>
            </a:extLst>
          </p:cNvPr>
          <p:cNvPicPr>
            <a:picLocks noChangeAspect="1"/>
          </p:cNvPicPr>
          <p:nvPr/>
        </p:nvPicPr>
        <p:blipFill>
          <a:blip r:embed="rId2"/>
          <a:stretch>
            <a:fillRect/>
          </a:stretch>
        </p:blipFill>
        <p:spPr>
          <a:xfrm>
            <a:off x="780508" y="2030250"/>
            <a:ext cx="2446794" cy="1672764"/>
          </a:xfrm>
          <a:prstGeom prst="rect">
            <a:avLst/>
          </a:prstGeom>
        </p:spPr>
      </p:pic>
      <p:sp>
        <p:nvSpPr>
          <p:cNvPr id="21" name="CuadroTexto 20">
            <a:extLst>
              <a:ext uri="{FF2B5EF4-FFF2-40B4-BE49-F238E27FC236}">
                <a16:creationId xmlns:a16="http://schemas.microsoft.com/office/drawing/2014/main" id="{A180171A-F02F-45C9-BAE2-9B9BAA96ED8E}"/>
              </a:ext>
            </a:extLst>
          </p:cNvPr>
          <p:cNvSpPr txBox="1"/>
          <p:nvPr/>
        </p:nvSpPr>
        <p:spPr>
          <a:xfrm>
            <a:off x="423333" y="1337383"/>
            <a:ext cx="3566583" cy="461665"/>
          </a:xfrm>
          <a:prstGeom prst="rect">
            <a:avLst/>
          </a:prstGeom>
          <a:noFill/>
        </p:spPr>
        <p:txBody>
          <a:bodyPr wrap="square">
            <a:spAutoFit/>
          </a:bodyPr>
          <a:lstStyle/>
          <a:p>
            <a:r>
              <a:rPr lang="es-ES" sz="1200" dirty="0"/>
              <a:t>Sección transversal del primer modo del </a:t>
            </a:r>
            <a:r>
              <a:rPr lang="es-ES" sz="1200" dirty="0" err="1"/>
              <a:t>modesolver</a:t>
            </a:r>
            <a:r>
              <a:rPr lang="es-ES" sz="1200" dirty="0"/>
              <a:t>, correspondiente al </a:t>
            </a:r>
            <a:r>
              <a:rPr lang="es-ES" sz="1200" dirty="0" err="1"/>
              <a:t>supermodo</a:t>
            </a:r>
            <a:r>
              <a:rPr lang="es-ES" sz="1200" dirty="0"/>
              <a:t> par (simétrico) (TE):</a:t>
            </a:r>
          </a:p>
        </p:txBody>
      </p:sp>
      <p:sp>
        <p:nvSpPr>
          <p:cNvPr id="22" name="CuadroTexto 21">
            <a:extLst>
              <a:ext uri="{FF2B5EF4-FFF2-40B4-BE49-F238E27FC236}">
                <a16:creationId xmlns:a16="http://schemas.microsoft.com/office/drawing/2014/main" id="{7FE54070-91AB-4845-9A14-1C9758B25FE9}"/>
              </a:ext>
            </a:extLst>
          </p:cNvPr>
          <p:cNvSpPr txBox="1"/>
          <p:nvPr/>
        </p:nvSpPr>
        <p:spPr>
          <a:xfrm>
            <a:off x="4267200" y="1337383"/>
            <a:ext cx="3810000" cy="646331"/>
          </a:xfrm>
          <a:prstGeom prst="rect">
            <a:avLst/>
          </a:prstGeom>
          <a:noFill/>
        </p:spPr>
        <p:txBody>
          <a:bodyPr wrap="square">
            <a:spAutoFit/>
          </a:bodyPr>
          <a:lstStyle/>
          <a:p>
            <a:r>
              <a:rPr lang="es-ES" sz="1200" dirty="0"/>
              <a:t>Sección transversal del segundo modo, correspondiente </a:t>
            </a:r>
          </a:p>
          <a:p>
            <a:r>
              <a:rPr lang="es-ES" sz="1200" dirty="0"/>
              <a:t>al </a:t>
            </a:r>
            <a:r>
              <a:rPr lang="es-ES" sz="1200" dirty="0" err="1"/>
              <a:t>supermodo</a:t>
            </a:r>
            <a:r>
              <a:rPr lang="es-ES" sz="1200" dirty="0"/>
              <a:t> impar (antisimétrico) (TE), donde el campo eléctrico oscila en contrafase:</a:t>
            </a:r>
          </a:p>
        </p:txBody>
      </p:sp>
      <p:pic>
        <p:nvPicPr>
          <p:cNvPr id="23" name="Imagen 22">
            <a:extLst>
              <a:ext uri="{FF2B5EF4-FFF2-40B4-BE49-F238E27FC236}">
                <a16:creationId xmlns:a16="http://schemas.microsoft.com/office/drawing/2014/main" id="{7175DEC3-BAB8-459C-A918-FF0F2F3306A4}"/>
              </a:ext>
            </a:extLst>
          </p:cNvPr>
          <p:cNvPicPr>
            <a:picLocks noChangeAspect="1"/>
          </p:cNvPicPr>
          <p:nvPr/>
        </p:nvPicPr>
        <p:blipFill>
          <a:blip r:embed="rId3"/>
          <a:stretch>
            <a:fillRect/>
          </a:stretch>
        </p:blipFill>
        <p:spPr>
          <a:xfrm>
            <a:off x="4572000" y="2058530"/>
            <a:ext cx="2766144" cy="1852031"/>
          </a:xfrm>
          <a:prstGeom prst="rect">
            <a:avLst/>
          </a:prstGeom>
        </p:spPr>
      </p:pic>
      <p:pic>
        <p:nvPicPr>
          <p:cNvPr id="24" name="Imagen 23">
            <a:extLst>
              <a:ext uri="{FF2B5EF4-FFF2-40B4-BE49-F238E27FC236}">
                <a16:creationId xmlns:a16="http://schemas.microsoft.com/office/drawing/2014/main" id="{95AA9E3F-FF5B-4AA4-9AB8-B35AB95052FC}"/>
              </a:ext>
            </a:extLst>
          </p:cNvPr>
          <p:cNvPicPr>
            <a:picLocks noChangeAspect="1"/>
          </p:cNvPicPr>
          <p:nvPr/>
        </p:nvPicPr>
        <p:blipFill>
          <a:blip r:embed="rId4"/>
          <a:stretch>
            <a:fillRect/>
          </a:stretch>
        </p:blipFill>
        <p:spPr>
          <a:xfrm>
            <a:off x="8387951" y="4017045"/>
            <a:ext cx="2925300" cy="1955225"/>
          </a:xfrm>
          <a:prstGeom prst="rect">
            <a:avLst/>
          </a:prstGeom>
        </p:spPr>
      </p:pic>
      <p:sp>
        <p:nvSpPr>
          <p:cNvPr id="25" name="CuadroTexto 24">
            <a:extLst>
              <a:ext uri="{FF2B5EF4-FFF2-40B4-BE49-F238E27FC236}">
                <a16:creationId xmlns:a16="http://schemas.microsoft.com/office/drawing/2014/main" id="{3D565E00-F368-4503-B3C8-4754391FF88F}"/>
              </a:ext>
            </a:extLst>
          </p:cNvPr>
          <p:cNvSpPr txBox="1"/>
          <p:nvPr/>
        </p:nvSpPr>
        <p:spPr>
          <a:xfrm>
            <a:off x="8077200" y="1337383"/>
            <a:ext cx="3810000" cy="461665"/>
          </a:xfrm>
          <a:prstGeom prst="rect">
            <a:avLst/>
          </a:prstGeom>
          <a:noFill/>
        </p:spPr>
        <p:txBody>
          <a:bodyPr wrap="square">
            <a:spAutoFit/>
          </a:bodyPr>
          <a:lstStyle/>
          <a:p>
            <a:r>
              <a:rPr lang="es-ES" sz="1200" dirty="0"/>
              <a:t>Sección transversal del tercer modo. Podemos observar que tiene </a:t>
            </a:r>
            <a:r>
              <a:rPr lang="es-ES" sz="1200" dirty="0" err="1"/>
              <a:t>comoponente</a:t>
            </a:r>
            <a:r>
              <a:rPr lang="es-ES" sz="1200" dirty="0"/>
              <a:t> en el modo TM.</a:t>
            </a:r>
          </a:p>
        </p:txBody>
      </p:sp>
      <p:pic>
        <p:nvPicPr>
          <p:cNvPr id="26" name="Imagen 25">
            <a:extLst>
              <a:ext uri="{FF2B5EF4-FFF2-40B4-BE49-F238E27FC236}">
                <a16:creationId xmlns:a16="http://schemas.microsoft.com/office/drawing/2014/main" id="{811EB3F4-7E8D-4382-BF5B-331FEE8A5402}"/>
              </a:ext>
            </a:extLst>
          </p:cNvPr>
          <p:cNvPicPr>
            <a:picLocks noChangeAspect="1"/>
          </p:cNvPicPr>
          <p:nvPr/>
        </p:nvPicPr>
        <p:blipFill>
          <a:blip r:embed="rId5"/>
          <a:stretch>
            <a:fillRect/>
          </a:stretch>
        </p:blipFill>
        <p:spPr>
          <a:xfrm>
            <a:off x="780508" y="4012332"/>
            <a:ext cx="2562249" cy="1746988"/>
          </a:xfrm>
          <a:prstGeom prst="rect">
            <a:avLst/>
          </a:prstGeom>
        </p:spPr>
      </p:pic>
      <p:sp>
        <p:nvSpPr>
          <p:cNvPr id="28" name="CuadroTexto 27">
            <a:extLst>
              <a:ext uri="{FF2B5EF4-FFF2-40B4-BE49-F238E27FC236}">
                <a16:creationId xmlns:a16="http://schemas.microsoft.com/office/drawing/2014/main" id="{B92B350C-C75E-436C-AE0E-BFE2A5580519}"/>
              </a:ext>
            </a:extLst>
          </p:cNvPr>
          <p:cNvSpPr txBox="1"/>
          <p:nvPr/>
        </p:nvSpPr>
        <p:spPr>
          <a:xfrm>
            <a:off x="457200" y="800903"/>
            <a:ext cx="10991850" cy="276999"/>
          </a:xfrm>
          <a:prstGeom prst="rect">
            <a:avLst/>
          </a:prstGeom>
          <a:noFill/>
        </p:spPr>
        <p:txBody>
          <a:bodyPr wrap="square">
            <a:spAutoFit/>
          </a:bodyPr>
          <a:lstStyle/>
          <a:p>
            <a:r>
              <a:rPr lang="es-ES" sz="1200" dirty="0"/>
              <a:t>A continuación se muestra la sección transversal de los modos. En la parte de arriba se muestra el análisis del modo TE y en la parte de abajo el modo TM. </a:t>
            </a:r>
          </a:p>
        </p:txBody>
      </p:sp>
      <p:pic>
        <p:nvPicPr>
          <p:cNvPr id="3" name="Imagen 2">
            <a:extLst>
              <a:ext uri="{FF2B5EF4-FFF2-40B4-BE49-F238E27FC236}">
                <a16:creationId xmlns:a16="http://schemas.microsoft.com/office/drawing/2014/main" id="{94B7BFF1-FFA2-4857-9D5B-640E5E49B4B2}"/>
              </a:ext>
            </a:extLst>
          </p:cNvPr>
          <p:cNvPicPr>
            <a:picLocks noChangeAspect="1"/>
          </p:cNvPicPr>
          <p:nvPr/>
        </p:nvPicPr>
        <p:blipFill>
          <a:blip r:embed="rId6"/>
          <a:stretch>
            <a:fillRect/>
          </a:stretch>
        </p:blipFill>
        <p:spPr>
          <a:xfrm>
            <a:off x="4484328" y="4017045"/>
            <a:ext cx="2766144" cy="1881171"/>
          </a:xfrm>
          <a:prstGeom prst="rect">
            <a:avLst/>
          </a:prstGeom>
        </p:spPr>
      </p:pic>
      <p:pic>
        <p:nvPicPr>
          <p:cNvPr id="7" name="Imagen 6">
            <a:extLst>
              <a:ext uri="{FF2B5EF4-FFF2-40B4-BE49-F238E27FC236}">
                <a16:creationId xmlns:a16="http://schemas.microsoft.com/office/drawing/2014/main" id="{C94E018B-2499-44F0-B788-3F424A53201C}"/>
              </a:ext>
            </a:extLst>
          </p:cNvPr>
          <p:cNvPicPr>
            <a:picLocks noChangeAspect="1"/>
          </p:cNvPicPr>
          <p:nvPr/>
        </p:nvPicPr>
        <p:blipFill>
          <a:blip r:embed="rId7"/>
          <a:stretch>
            <a:fillRect/>
          </a:stretch>
        </p:blipFill>
        <p:spPr>
          <a:xfrm>
            <a:off x="8547955" y="2058529"/>
            <a:ext cx="2723295" cy="1852031"/>
          </a:xfrm>
          <a:prstGeom prst="rect">
            <a:avLst/>
          </a:prstGeom>
        </p:spPr>
      </p:pic>
    </p:spTree>
    <p:extLst>
      <p:ext uri="{BB962C8B-B14F-4D97-AF65-F5344CB8AC3E}">
        <p14:creationId xmlns:p14="http://schemas.microsoft.com/office/powerpoint/2010/main" val="29438141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0CD65A1-9D4A-4D1C-AFBB-431764CDB3F0}"/>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5" name="Marcador de número de diapositiva 4">
            <a:extLst>
              <a:ext uri="{FF2B5EF4-FFF2-40B4-BE49-F238E27FC236}">
                <a16:creationId xmlns:a16="http://schemas.microsoft.com/office/drawing/2014/main" id="{8FE1C107-890A-49C8-B1C9-17571AEBDB76}"/>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9" name="CuadroTexto 8">
            <a:extLst>
              <a:ext uri="{FF2B5EF4-FFF2-40B4-BE49-F238E27FC236}">
                <a16:creationId xmlns:a16="http://schemas.microsoft.com/office/drawing/2014/main" id="{A4E1AF72-69FD-4F13-A583-23A04ADA921C}"/>
              </a:ext>
            </a:extLst>
          </p:cNvPr>
          <p:cNvSpPr txBox="1"/>
          <p:nvPr/>
        </p:nvSpPr>
        <p:spPr>
          <a:xfrm>
            <a:off x="457200" y="1066800"/>
            <a:ext cx="3566583" cy="830997"/>
          </a:xfrm>
          <a:prstGeom prst="rect">
            <a:avLst/>
          </a:prstGeom>
          <a:noFill/>
        </p:spPr>
        <p:txBody>
          <a:bodyPr wrap="square">
            <a:spAutoFit/>
          </a:bodyPr>
          <a:lstStyle/>
          <a:p>
            <a:r>
              <a:rPr lang="es-ES" sz="1200" dirty="0"/>
              <a:t>Sección transversal del cuarto modo (TM). Se puede observar que hay algo de confinamiento dentro del núcleo pero hay mucha componente de la luz que viaja por la cubierta.</a:t>
            </a:r>
          </a:p>
        </p:txBody>
      </p:sp>
      <p:sp>
        <p:nvSpPr>
          <p:cNvPr id="10" name="CuadroTexto 9">
            <a:extLst>
              <a:ext uri="{FF2B5EF4-FFF2-40B4-BE49-F238E27FC236}">
                <a16:creationId xmlns:a16="http://schemas.microsoft.com/office/drawing/2014/main" id="{7AA8074F-CEBA-4A99-A526-1BABDCAAD773}"/>
              </a:ext>
            </a:extLst>
          </p:cNvPr>
          <p:cNvSpPr txBox="1"/>
          <p:nvPr/>
        </p:nvSpPr>
        <p:spPr>
          <a:xfrm>
            <a:off x="4088004" y="992217"/>
            <a:ext cx="3810000" cy="1015663"/>
          </a:xfrm>
          <a:prstGeom prst="rect">
            <a:avLst/>
          </a:prstGeom>
          <a:noFill/>
        </p:spPr>
        <p:txBody>
          <a:bodyPr wrap="square">
            <a:spAutoFit/>
          </a:bodyPr>
          <a:lstStyle/>
          <a:p>
            <a:r>
              <a:rPr lang="es-ES" sz="1200" dirty="0"/>
              <a:t>Sección transversal del quinto modo. Se trata de un modo TE de orden superior que presenta tres lóbulos definidos en su componente horizontal. A diferencia del modo siguiente, este sí se encuentra confinado dentro de la estructura y se propaga.</a:t>
            </a:r>
          </a:p>
        </p:txBody>
      </p:sp>
      <p:sp>
        <p:nvSpPr>
          <p:cNvPr id="18" name="CuadroTexto 17">
            <a:extLst>
              <a:ext uri="{FF2B5EF4-FFF2-40B4-BE49-F238E27FC236}">
                <a16:creationId xmlns:a16="http://schemas.microsoft.com/office/drawing/2014/main" id="{760E0D21-B3A1-4B49-856F-A20EC0CC9FDA}"/>
              </a:ext>
            </a:extLst>
          </p:cNvPr>
          <p:cNvSpPr txBox="1"/>
          <p:nvPr/>
        </p:nvSpPr>
        <p:spPr>
          <a:xfrm>
            <a:off x="7924800" y="989548"/>
            <a:ext cx="3810000" cy="646331"/>
          </a:xfrm>
          <a:prstGeom prst="rect">
            <a:avLst/>
          </a:prstGeom>
          <a:noFill/>
        </p:spPr>
        <p:txBody>
          <a:bodyPr wrap="square">
            <a:spAutoFit/>
          </a:bodyPr>
          <a:lstStyle/>
          <a:p>
            <a:r>
              <a:rPr lang="es-ES" sz="1200" dirty="0"/>
              <a:t>Sección transversal del sexto modo. Podemos observar que, en este caso, como se había predicho anteriormente el modo estará en corte y no se propagará por la guía. </a:t>
            </a:r>
          </a:p>
        </p:txBody>
      </p:sp>
      <p:sp>
        <p:nvSpPr>
          <p:cNvPr id="19" name="object 16">
            <a:extLst>
              <a:ext uri="{FF2B5EF4-FFF2-40B4-BE49-F238E27FC236}">
                <a16:creationId xmlns:a16="http://schemas.microsoft.com/office/drawing/2014/main" id="{8AFCDEA1-211D-4C75-AC9E-88A4F8E1B393}"/>
              </a:ext>
            </a:extLst>
          </p:cNvPr>
          <p:cNvSpPr txBox="1">
            <a:spLocks noGrp="1"/>
          </p:cNvSpPr>
          <p:nvPr>
            <p:ph type="title"/>
          </p:nvPr>
        </p:nvSpPr>
        <p:spPr>
          <a:xfrm>
            <a:off x="590550" y="206375"/>
            <a:ext cx="10991850" cy="30797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6" name="Imagen 5">
            <a:extLst>
              <a:ext uri="{FF2B5EF4-FFF2-40B4-BE49-F238E27FC236}">
                <a16:creationId xmlns:a16="http://schemas.microsoft.com/office/drawing/2014/main" id="{53D5037E-4F8A-49CA-8696-7B930F3AA0EB}"/>
              </a:ext>
            </a:extLst>
          </p:cNvPr>
          <p:cNvPicPr>
            <a:picLocks noChangeAspect="1"/>
          </p:cNvPicPr>
          <p:nvPr/>
        </p:nvPicPr>
        <p:blipFill>
          <a:blip r:embed="rId2"/>
          <a:stretch>
            <a:fillRect/>
          </a:stretch>
        </p:blipFill>
        <p:spPr>
          <a:xfrm>
            <a:off x="835340" y="3723663"/>
            <a:ext cx="2744347" cy="1842160"/>
          </a:xfrm>
          <a:prstGeom prst="rect">
            <a:avLst/>
          </a:prstGeom>
        </p:spPr>
      </p:pic>
      <p:pic>
        <p:nvPicPr>
          <p:cNvPr id="14" name="Imagen 13">
            <a:extLst>
              <a:ext uri="{FF2B5EF4-FFF2-40B4-BE49-F238E27FC236}">
                <a16:creationId xmlns:a16="http://schemas.microsoft.com/office/drawing/2014/main" id="{3D266487-5B72-4CC0-9284-5C2D4C498634}"/>
              </a:ext>
            </a:extLst>
          </p:cNvPr>
          <p:cNvPicPr>
            <a:picLocks noChangeAspect="1"/>
          </p:cNvPicPr>
          <p:nvPr/>
        </p:nvPicPr>
        <p:blipFill>
          <a:blip r:embed="rId3"/>
          <a:stretch>
            <a:fillRect/>
          </a:stretch>
        </p:blipFill>
        <p:spPr>
          <a:xfrm>
            <a:off x="4594390" y="2006206"/>
            <a:ext cx="2751401" cy="1842160"/>
          </a:xfrm>
          <a:prstGeom prst="rect">
            <a:avLst/>
          </a:prstGeom>
        </p:spPr>
      </p:pic>
      <p:pic>
        <p:nvPicPr>
          <p:cNvPr id="17" name="Imagen 16">
            <a:extLst>
              <a:ext uri="{FF2B5EF4-FFF2-40B4-BE49-F238E27FC236}">
                <a16:creationId xmlns:a16="http://schemas.microsoft.com/office/drawing/2014/main" id="{8EA11661-8D45-408C-8C2B-63285CA9D9B3}"/>
              </a:ext>
            </a:extLst>
          </p:cNvPr>
          <p:cNvPicPr>
            <a:picLocks noChangeAspect="1"/>
          </p:cNvPicPr>
          <p:nvPr/>
        </p:nvPicPr>
        <p:blipFill>
          <a:blip r:embed="rId4"/>
          <a:stretch>
            <a:fillRect/>
          </a:stretch>
        </p:blipFill>
        <p:spPr>
          <a:xfrm>
            <a:off x="8465183" y="3723663"/>
            <a:ext cx="2751400" cy="1871145"/>
          </a:xfrm>
          <a:prstGeom prst="rect">
            <a:avLst/>
          </a:prstGeom>
        </p:spPr>
      </p:pic>
      <p:pic>
        <p:nvPicPr>
          <p:cNvPr id="3" name="Imagen 2">
            <a:extLst>
              <a:ext uri="{FF2B5EF4-FFF2-40B4-BE49-F238E27FC236}">
                <a16:creationId xmlns:a16="http://schemas.microsoft.com/office/drawing/2014/main" id="{1C031CBC-D966-4D11-8BB4-F00474D67910}"/>
              </a:ext>
            </a:extLst>
          </p:cNvPr>
          <p:cNvPicPr>
            <a:picLocks noChangeAspect="1"/>
          </p:cNvPicPr>
          <p:nvPr/>
        </p:nvPicPr>
        <p:blipFill>
          <a:blip r:embed="rId5"/>
          <a:stretch>
            <a:fillRect/>
          </a:stretch>
        </p:blipFill>
        <p:spPr>
          <a:xfrm>
            <a:off x="820744" y="2006205"/>
            <a:ext cx="2708780" cy="1842160"/>
          </a:xfrm>
          <a:prstGeom prst="rect">
            <a:avLst/>
          </a:prstGeom>
        </p:spPr>
      </p:pic>
      <p:pic>
        <p:nvPicPr>
          <p:cNvPr id="8" name="Imagen 7">
            <a:extLst>
              <a:ext uri="{FF2B5EF4-FFF2-40B4-BE49-F238E27FC236}">
                <a16:creationId xmlns:a16="http://schemas.microsoft.com/office/drawing/2014/main" id="{A23E11D5-9F27-4A6B-AA47-E637DDC9103F}"/>
              </a:ext>
            </a:extLst>
          </p:cNvPr>
          <p:cNvPicPr>
            <a:picLocks noChangeAspect="1"/>
          </p:cNvPicPr>
          <p:nvPr/>
        </p:nvPicPr>
        <p:blipFill>
          <a:blip r:embed="rId6"/>
          <a:stretch>
            <a:fillRect/>
          </a:stretch>
        </p:blipFill>
        <p:spPr>
          <a:xfrm>
            <a:off x="4594389" y="3693826"/>
            <a:ext cx="2751400" cy="1904815"/>
          </a:xfrm>
          <a:prstGeom prst="rect">
            <a:avLst/>
          </a:prstGeom>
        </p:spPr>
      </p:pic>
      <p:pic>
        <p:nvPicPr>
          <p:cNvPr id="12" name="Imagen 11">
            <a:extLst>
              <a:ext uri="{FF2B5EF4-FFF2-40B4-BE49-F238E27FC236}">
                <a16:creationId xmlns:a16="http://schemas.microsoft.com/office/drawing/2014/main" id="{2802E534-3703-4DB3-9113-79233D16852D}"/>
              </a:ext>
            </a:extLst>
          </p:cNvPr>
          <p:cNvPicPr>
            <a:picLocks noChangeAspect="1"/>
          </p:cNvPicPr>
          <p:nvPr/>
        </p:nvPicPr>
        <p:blipFill>
          <a:blip r:embed="rId7"/>
          <a:stretch>
            <a:fillRect/>
          </a:stretch>
        </p:blipFill>
        <p:spPr>
          <a:xfrm>
            <a:off x="8359656" y="1961806"/>
            <a:ext cx="2892231" cy="1966919"/>
          </a:xfrm>
          <a:prstGeom prst="rect">
            <a:avLst/>
          </a:prstGeom>
        </p:spPr>
      </p:pic>
    </p:spTree>
    <p:extLst>
      <p:ext uri="{BB962C8B-B14F-4D97-AF65-F5344CB8AC3E}">
        <p14:creationId xmlns:p14="http://schemas.microsoft.com/office/powerpoint/2010/main" val="1431447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FDE3A197-9508-F9F1-1FEB-FF883D78C151}"/>
                  </a:ext>
                </a:extLst>
              </p:cNvPr>
              <p:cNvSpPr txBox="1"/>
              <p:nvPr/>
            </p:nvSpPr>
            <p:spPr>
              <a:xfrm>
                <a:off x="518056" y="3774468"/>
                <a:ext cx="11199971" cy="249299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a:t>
                </a:r>
                <a14:m>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𝐿</m:t>
                        </m:r>
                      </m:e>
                      <m:sub>
                        <m:r>
                          <a:rPr lang="es-ES" sz="1200" b="0" i="1" smtClean="0">
                            <a:latin typeface="Cambria Math" panose="02040503050406030204" pitchFamily="18" charset="0"/>
                          </a:rPr>
                          <m:t>𝜋</m:t>
                        </m:r>
                      </m:sub>
                    </m:sSub>
                  </m:oMath>
                </a14:m>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obtiene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tomando</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numéricos</a:t>
                </a:r>
                <a:r>
                  <a:rPr lang="en-US" sz="1200" dirty="0">
                    <a:latin typeface="Arial" panose="020B0604020202020204" pitchFamily="34" charset="0"/>
                    <a:cs typeface="Arial" panose="020B0604020202020204" pitchFamily="34" charset="0"/>
                  </a:rPr>
                  <a:t> de dos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primer y </a:t>
                </a:r>
                <a:r>
                  <a:rPr lang="en-US" sz="1200" dirty="0" err="1">
                    <a:latin typeface="Arial" panose="020B0604020202020204" pitchFamily="34" charset="0"/>
                    <a:cs typeface="Arial" panose="020B0604020202020204" pitchFamily="34" charset="0"/>
                  </a:rPr>
                  <a:t>segundo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dividiendo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central entre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Como </a:t>
                </a:r>
                <a:r>
                  <a:rPr lang="en-US" sz="1200" dirty="0" err="1">
                    <a:latin typeface="Arial" panose="020B0604020202020204" pitchFamily="34" charset="0"/>
                    <a:cs typeface="Arial" panose="020B0604020202020204" pitchFamily="34" charset="0"/>
                  </a:rPr>
                  <a:t>resultado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obtiene</a:t>
                </a:r>
                <a:r>
                  <a:rPr lang="en-US" sz="1200" dirty="0">
                    <a:latin typeface="Arial" panose="020B0604020202020204" pitchFamily="34" charset="0"/>
                    <a:cs typeface="Arial" panose="020B0604020202020204" pitchFamily="34" charset="0"/>
                  </a:rPr>
                  <a:t> un valor de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r>
                      <a:rPr lang="es-ES" sz="1200" b="0" i="1" smtClean="0">
                        <a:latin typeface="Cambria Math" panose="02040503050406030204" pitchFamily="18" charset="0"/>
                      </a:rPr>
                      <m:t>=212.41</m:t>
                    </m:r>
                    <m:r>
                      <m:rPr>
                        <m:nor/>
                      </m:rPr>
                      <a:rPr lang="en-US" sz="1200" dirty="0"/>
                      <m:t>µ</m:t>
                    </m:r>
                    <m:r>
                      <m:rPr>
                        <m:nor/>
                      </m:rPr>
                      <a:rPr lang="en-US" sz="1200" dirty="0"/>
                      <m:t>m</m:t>
                    </m:r>
                  </m:oMath>
                </a14:m>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FDE3A197-9508-F9F1-1FEB-FF883D78C151}"/>
                  </a:ext>
                </a:extLst>
              </p:cNvPr>
              <p:cNvSpPr txBox="1">
                <a:spLocks noRot="1" noChangeAspect="1" noMove="1" noResize="1" noEditPoints="1" noAdjustHandles="1" noChangeArrowheads="1" noChangeShapeType="1" noTextEdit="1"/>
              </p:cNvSpPr>
              <p:nvPr/>
            </p:nvSpPr>
            <p:spPr>
              <a:xfrm>
                <a:off x="518056" y="3774468"/>
                <a:ext cx="11199971" cy="2492990"/>
              </a:xfrm>
              <a:prstGeom prst="rect">
                <a:avLst/>
              </a:prstGeom>
              <a:blipFill>
                <a:blip r:embed="rId6"/>
                <a:stretch>
                  <a:fillRect/>
                </a:stretch>
              </a:blipFill>
              <a:ln w="28575">
                <a:solidFill>
                  <a:srgbClr val="E0700D"/>
                </a:solidFill>
              </a:ln>
            </p:spPr>
            <p:txBody>
              <a:bodyPr/>
              <a:lstStyle/>
              <a:p>
                <a:r>
                  <a:rPr lang="es-ES">
                    <a:noFill/>
                  </a:rPr>
                  <a:t> </a:t>
                </a:r>
              </a:p>
            </p:txBody>
          </p:sp>
        </mc:Fallback>
      </mc:AlternateContent>
      <p:pic>
        <p:nvPicPr>
          <p:cNvPr id="6" name="Imagen 5">
            <a:extLst>
              <a:ext uri="{FF2B5EF4-FFF2-40B4-BE49-F238E27FC236}">
                <a16:creationId xmlns:a16="http://schemas.microsoft.com/office/drawing/2014/main" id="{BA205516-F93B-4FBA-BA73-0A5A8624223C}"/>
              </a:ext>
            </a:extLst>
          </p:cNvPr>
          <p:cNvPicPr>
            <a:picLocks noChangeAspect="1"/>
          </p:cNvPicPr>
          <p:nvPr/>
        </p:nvPicPr>
        <p:blipFill>
          <a:blip r:embed="rId7"/>
          <a:stretch>
            <a:fillRect/>
          </a:stretch>
        </p:blipFill>
        <p:spPr>
          <a:xfrm>
            <a:off x="3406860" y="4724400"/>
            <a:ext cx="4876800" cy="1239993"/>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CBD5F6C9-C94E-4972-A435-0A8F21321D59}"/>
              </a:ext>
            </a:extLst>
          </p:cNvPr>
          <p:cNvSpPr>
            <a:spLocks noGrp="1"/>
          </p:cNvSpPr>
          <p:nvPr>
            <p:ph type="body" idx="1"/>
          </p:nvPr>
        </p:nvSpPr>
        <p:spPr>
          <a:xfrm>
            <a:off x="609600" y="762000"/>
            <a:ext cx="10972800" cy="5539978"/>
          </a:xfrm>
        </p:spPr>
        <p:txBody>
          <a:bodyPr/>
          <a:lstStyle/>
          <a:p>
            <a:r>
              <a:rPr lang="es-ES" sz="1200" dirty="0"/>
              <a:t>Índices efectivos para los 30 primeros modos:</a:t>
            </a:r>
          </a:p>
          <a:p>
            <a:r>
              <a:rPr lang="es-ES" sz="1200" dirty="0"/>
              <a:t>array([1.6786595 +7.78934672e-05j, 1.67512732+7.81571827e-05j,</a:t>
            </a:r>
          </a:p>
          <a:p>
            <a:r>
              <a:rPr lang="es-ES" sz="1200" dirty="0"/>
              <a:t>       1.66922847+7.86028340e-05j, 1.66094525+7.92401466e-05j,</a:t>
            </a:r>
          </a:p>
          <a:p>
            <a:r>
              <a:rPr lang="es-ES" sz="1200" dirty="0"/>
              <a:t>       1.65025312+8.00839409e-05j, 1.63712124+8.11557006e-05j,</a:t>
            </a:r>
          </a:p>
          <a:p>
            <a:r>
              <a:rPr lang="es-ES" sz="1200" dirty="0"/>
              <a:t>       1.6215135 +8.24863265e-05j, 1.60339058+8.41212350e-05j,</a:t>
            </a:r>
          </a:p>
          <a:p>
            <a:r>
              <a:rPr lang="es-ES" sz="1200" dirty="0"/>
              <a:t>       1.58271457+8.61311110e-05j, 1.5774205 +1.66068730e-04j,</a:t>
            </a:r>
          </a:p>
          <a:p>
            <a:r>
              <a:rPr lang="es-ES" sz="1200" dirty="0"/>
              <a:t>       1.57388942+1.66498915e-04j, 1.56799588+1.67223410e-04j,</a:t>
            </a:r>
          </a:p>
          <a:p>
            <a:r>
              <a:rPr lang="es-ES" sz="1200" dirty="0"/>
              <a:t>       1.55972723+1.68258132e-04j, 1.5594584 +8.86366882e-05j,</a:t>
            </a:r>
          </a:p>
          <a:p>
            <a:r>
              <a:rPr lang="es-ES" sz="1200" dirty="0"/>
              <a:t>       1.54906903+1.69617736e-04j, 1.53601168+1.71243999e-04j,</a:t>
            </a:r>
          </a:p>
          <a:p>
            <a:r>
              <a:rPr lang="es-ES" sz="1200" dirty="0"/>
              <a:t>       1.53362692+9.19569892e-05j, 1.52054265+1.73463904e-04j,</a:t>
            </a:r>
          </a:p>
          <a:p>
            <a:r>
              <a:rPr lang="es-ES" sz="1200" dirty="0"/>
              <a:t>       1.5053405 +9.64082096e-05j, 1.50269423+1.76086968e-04j,</a:t>
            </a:r>
          </a:p>
          <a:p>
            <a:r>
              <a:rPr lang="es-ES" sz="1200" dirty="0"/>
              <a:t>       1.48257196+1.79388862e-04j, 1.4750929 +1.04662871e-04j,</a:t>
            </a:r>
          </a:p>
          <a:p>
            <a:r>
              <a:rPr lang="es-ES" sz="1200" dirty="0"/>
              <a:t>       1.46055739+1.83954929e-04j, 1.44602702+1.38735742e-04j,</a:t>
            </a:r>
          </a:p>
          <a:p>
            <a:r>
              <a:rPr lang="es-ES" sz="1200" dirty="0"/>
              <a:t>       1.44427255+2.13138695e-04j, 1.44154639+2.15937624e-04j,</a:t>
            </a:r>
          </a:p>
          <a:p>
            <a:r>
              <a:rPr lang="es-ES" sz="1200" dirty="0"/>
              <a:t>       1.43845554+1.93429161e-04j, 1.43685358+2.16442381e-04j,</a:t>
            </a:r>
          </a:p>
          <a:p>
            <a:r>
              <a:rPr lang="es-ES" sz="1200" dirty="0"/>
              <a:t>       1.43133766+1.97271657e-04j, 1.43033094+2.15440791e-04j])</a:t>
            </a:r>
          </a:p>
          <a:p>
            <a:endParaRPr lang="es-ES" sz="1200" dirty="0"/>
          </a:p>
          <a:p>
            <a:r>
              <a:rPr lang="es-ES" sz="1200" dirty="0"/>
              <a:t>Si nos fijamos en la parte real, podemos observar que se propagan los 25 primeros modos menos el último, ya que este ve un índice efectivo menor al del </a:t>
            </a:r>
            <a:r>
              <a:rPr lang="es-ES" sz="1200" dirty="0" err="1"/>
              <a:t>cladding</a:t>
            </a:r>
            <a:r>
              <a:rPr lang="es-ES" sz="1200" dirty="0"/>
              <a:t> (1.44).</a:t>
            </a:r>
          </a:p>
          <a:p>
            <a:endParaRPr lang="es-ES" sz="1200" dirty="0"/>
          </a:p>
          <a:p>
            <a:r>
              <a:rPr lang="es-ES" sz="1200" dirty="0"/>
              <a:t>Análisis del porcentaje de TE de cada modo:</a:t>
            </a:r>
          </a:p>
          <a:p>
            <a:r>
              <a:rPr lang="en-US" sz="1200" dirty="0"/>
              <a:t>array([9.99991904e-01, 9.99967183e-01, 9.99924497e-01, 9.99861445e-01,</a:t>
            </a:r>
          </a:p>
          <a:p>
            <a:r>
              <a:rPr lang="en-US" sz="1200" dirty="0"/>
              <a:t>       9.99774272e-01, 9.99657368e-01, 9.99502382e-01, 9.99296461e-01,</a:t>
            </a:r>
          </a:p>
          <a:p>
            <a:r>
              <a:rPr lang="en-US" sz="1200" dirty="0"/>
              <a:t>       9.99013009e-01, 2.38565216e-04, 9.55099424e-04, 2.13831793e-03,</a:t>
            </a:r>
          </a:p>
          <a:p>
            <a:r>
              <a:rPr lang="en-US" sz="1200" dirty="0"/>
              <a:t>       3.73633926e-03, 9.98594348e-01, 5.78997522e-03, 9.32192911e-03,</a:t>
            </a:r>
          </a:p>
          <a:p>
            <a:r>
              <a:rPr lang="en-US" sz="1200" dirty="0"/>
              <a:t>       9.96954269e-01, 1.09103635e-02, 9.97247761e-01, 1.38536944e-02,</a:t>
            </a:r>
          </a:p>
          <a:p>
            <a:r>
              <a:rPr lang="en-US" sz="1200" dirty="0"/>
              <a:t>       1.69467184e-02, 9.95776123e-01, 1.98944330e-02, 9.71035840e-01,</a:t>
            </a:r>
          </a:p>
          <a:p>
            <a:r>
              <a:rPr lang="en-US" sz="1200" dirty="0"/>
              <a:t>       5.87218497e-02, 2.41834581e-03, 2.08842314e-02, 1.51438309e-02,</a:t>
            </a:r>
          </a:p>
          <a:p>
            <a:r>
              <a:rPr lang="en-US" sz="1200" dirty="0"/>
              <a:t>       8.39470852e-01, 1.90596366e-01])</a:t>
            </a:r>
          </a:p>
          <a:p>
            <a:endParaRPr lang="en-US" sz="1200" dirty="0"/>
          </a:p>
          <a:p>
            <a:r>
              <a:rPr lang="es-ES" sz="1200" dirty="0"/>
              <a:t>Podemos observar que los modos que serán más TE son el 1-9,14,17, 19, 22, 24 y 29, mientras que el resto tendrán mayor componente TM.</a:t>
            </a:r>
          </a:p>
        </p:txBody>
      </p:sp>
      <p:sp>
        <p:nvSpPr>
          <p:cNvPr id="4" name="Marcador de pie de página 3">
            <a:extLst>
              <a:ext uri="{FF2B5EF4-FFF2-40B4-BE49-F238E27FC236}">
                <a16:creationId xmlns:a16="http://schemas.microsoft.com/office/drawing/2014/main" id="{E0CD65A1-9D4A-4D1C-AFBB-431764CDB3F0}"/>
              </a:ext>
            </a:extLst>
          </p:cNvPr>
          <p:cNvSpPr>
            <a:spLocks noGrp="1"/>
          </p:cNvSpPr>
          <p:nvPr>
            <p:ph type="ftr" sz="quarter" idx="5"/>
          </p:nvPr>
        </p:nvSpPr>
        <p:spPr/>
        <p:txBody>
          <a:bodyPr/>
          <a:lstStyle/>
          <a:p>
            <a:pPr marL="12700">
              <a:spcBef>
                <a:spcPts val="15"/>
              </a:spcBef>
            </a:pPr>
            <a:r>
              <a:rPr lang="es-ES" spc="-5" dirty="0"/>
              <a:t>LAB 0.2. COUPLERS</a:t>
            </a:r>
          </a:p>
        </p:txBody>
      </p:sp>
      <p:sp>
        <p:nvSpPr>
          <p:cNvPr id="5" name="Marcador de número de diapositiva 4">
            <a:extLst>
              <a:ext uri="{FF2B5EF4-FFF2-40B4-BE49-F238E27FC236}">
                <a16:creationId xmlns:a16="http://schemas.microsoft.com/office/drawing/2014/main" id="{8FE1C107-890A-49C8-B1C9-17571AEBDB76}"/>
              </a:ext>
            </a:extLst>
          </p:cNvPr>
          <p:cNvSpPr>
            <a:spLocks noGrp="1"/>
          </p:cNvSpPr>
          <p:nvPr>
            <p:ph type="sldNum" sz="quarter" idx="7"/>
          </p:nvPr>
        </p:nvSpPr>
        <p:spPr/>
        <p:txBody>
          <a:bodyPr/>
          <a:lstStyle/>
          <a:p>
            <a:fld id="{B6F15528-21DE-4FAA-801E-634DDDAF4B2B}" type="slidenum">
              <a:rPr lang="es-ES" smtClean="0"/>
              <a:t>8</a:t>
            </a:fld>
            <a:endParaRPr lang="es-ES" dirty="0"/>
          </a:p>
        </p:txBody>
      </p:sp>
      <p:sp>
        <p:nvSpPr>
          <p:cNvPr id="19" name="object 16">
            <a:extLst>
              <a:ext uri="{FF2B5EF4-FFF2-40B4-BE49-F238E27FC236}">
                <a16:creationId xmlns:a16="http://schemas.microsoft.com/office/drawing/2014/main" id="{8AFCDEA1-211D-4C75-AC9E-88A4F8E1B393}"/>
              </a:ext>
            </a:extLst>
          </p:cNvPr>
          <p:cNvSpPr txBox="1">
            <a:spLocks noGrp="1"/>
          </p:cNvSpPr>
          <p:nvPr>
            <p:ph type="title"/>
          </p:nvPr>
        </p:nvSpPr>
        <p:spPr>
          <a:xfrm>
            <a:off x="590550" y="206375"/>
            <a:ext cx="1099185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Multimode Interference (MMI) Coupler cross-section</a:t>
            </a:r>
            <a:endParaRPr sz="2500" b="0" dirty="0">
              <a:latin typeface="+mj-lt"/>
              <a:cs typeface="Lucida Sans"/>
            </a:endParaRPr>
          </a:p>
        </p:txBody>
      </p:sp>
    </p:spTree>
    <p:extLst>
      <p:ext uri="{BB962C8B-B14F-4D97-AF65-F5344CB8AC3E}">
        <p14:creationId xmlns:p14="http://schemas.microsoft.com/office/powerpoint/2010/main" val="7970978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A83EB4-B2EA-4E80-9DCF-ABFDDEEC0ACD}"/>
              </a:ext>
            </a:extLst>
          </p:cNvPr>
          <p:cNvSpPr>
            <a:spLocks noGrp="1"/>
          </p:cNvSpPr>
          <p:nvPr>
            <p:ph type="title"/>
          </p:nvPr>
        </p:nvSpPr>
        <p:spPr>
          <a:xfrm>
            <a:off x="590550" y="206752"/>
            <a:ext cx="10991850" cy="384721"/>
          </a:xfrm>
        </p:spPr>
        <p:txBody>
          <a:bodyPr/>
          <a:lstStyle/>
          <a:p>
            <a:r>
              <a:rPr lang="en-US" sz="2500" dirty="0"/>
              <a:t>Learning outcome #2 – Multimode Interference (MMI) Coupler cross-section</a:t>
            </a:r>
            <a:endParaRPr lang="es-ES" sz="2500" dirty="0"/>
          </a:p>
        </p:txBody>
      </p:sp>
      <p:sp>
        <p:nvSpPr>
          <p:cNvPr id="3" name="Marcador de texto 2">
            <a:extLst>
              <a:ext uri="{FF2B5EF4-FFF2-40B4-BE49-F238E27FC236}">
                <a16:creationId xmlns:a16="http://schemas.microsoft.com/office/drawing/2014/main" id="{79BAC382-009F-41DF-9F8C-AF8D12408105}"/>
              </a:ext>
            </a:extLst>
          </p:cNvPr>
          <p:cNvSpPr>
            <a:spLocks noGrp="1"/>
          </p:cNvSpPr>
          <p:nvPr>
            <p:ph type="body" idx="1"/>
          </p:nvPr>
        </p:nvSpPr>
        <p:spPr>
          <a:xfrm>
            <a:off x="592667" y="4622039"/>
            <a:ext cx="10972800" cy="923330"/>
          </a:xfrm>
        </p:spPr>
        <p:txBody>
          <a:bodyPr/>
          <a:lstStyle/>
          <a:p>
            <a:r>
              <a:rPr lang="es-ES" sz="1200" dirty="0"/>
              <a:t>Podemos observar cómo para diferentes longitudes en el MMI, se propaga un modo espacial distinto en su interior, es decir, cuanto mayor es el orden del modo, menor es su índice efectivo, tal como se explicó en las sesiones de laboratorio anteriores.</a:t>
            </a:r>
          </a:p>
          <a:p>
            <a:endParaRPr lang="es-ES" sz="1200" dirty="0"/>
          </a:p>
          <a:p>
            <a:r>
              <a:rPr lang="es-ES" sz="1200" dirty="0"/>
              <a:t>Se ha representado gráficamente los modos TE0, TE1 y  TE7. Sabemos que son estos modos debido a que la fracción TE es cercana a 1. Aunque los modos TM también se propagan, la forma espacial de la guía de onda se adapta mejor a los modos TE.</a:t>
            </a:r>
          </a:p>
        </p:txBody>
      </p:sp>
      <p:sp>
        <p:nvSpPr>
          <p:cNvPr id="4" name="Marcador de pie de página 3">
            <a:extLst>
              <a:ext uri="{FF2B5EF4-FFF2-40B4-BE49-F238E27FC236}">
                <a16:creationId xmlns:a16="http://schemas.microsoft.com/office/drawing/2014/main" id="{C440943F-FAA5-4B0E-AA40-3B1B64D384C8}"/>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5" name="Marcador de número de diapositiva 4">
            <a:extLst>
              <a:ext uri="{FF2B5EF4-FFF2-40B4-BE49-F238E27FC236}">
                <a16:creationId xmlns:a16="http://schemas.microsoft.com/office/drawing/2014/main" id="{7A22CBC6-9ED0-4C95-8F63-09518B5D9221}"/>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7" name="Imagen 6">
            <a:extLst>
              <a:ext uri="{FF2B5EF4-FFF2-40B4-BE49-F238E27FC236}">
                <a16:creationId xmlns:a16="http://schemas.microsoft.com/office/drawing/2014/main" id="{6056C499-CB27-4CA8-B9A6-788BDC676FE0}"/>
              </a:ext>
            </a:extLst>
          </p:cNvPr>
          <p:cNvPicPr>
            <a:picLocks noChangeAspect="1"/>
          </p:cNvPicPr>
          <p:nvPr/>
        </p:nvPicPr>
        <p:blipFill>
          <a:blip r:embed="rId2"/>
          <a:stretch>
            <a:fillRect/>
          </a:stretch>
        </p:blipFill>
        <p:spPr>
          <a:xfrm>
            <a:off x="973666" y="1958527"/>
            <a:ext cx="3022595" cy="2157412"/>
          </a:xfrm>
          <a:prstGeom prst="rect">
            <a:avLst/>
          </a:prstGeom>
        </p:spPr>
      </p:pic>
      <p:pic>
        <p:nvPicPr>
          <p:cNvPr id="9" name="Imagen 8">
            <a:extLst>
              <a:ext uri="{FF2B5EF4-FFF2-40B4-BE49-F238E27FC236}">
                <a16:creationId xmlns:a16="http://schemas.microsoft.com/office/drawing/2014/main" id="{9FAF82E5-E9CF-4488-860A-07E88E759C62}"/>
              </a:ext>
            </a:extLst>
          </p:cNvPr>
          <p:cNvPicPr>
            <a:picLocks noChangeAspect="1"/>
          </p:cNvPicPr>
          <p:nvPr/>
        </p:nvPicPr>
        <p:blipFill>
          <a:blip r:embed="rId3"/>
          <a:stretch>
            <a:fillRect/>
          </a:stretch>
        </p:blipFill>
        <p:spPr>
          <a:xfrm>
            <a:off x="4402667" y="1958527"/>
            <a:ext cx="3083602" cy="2157412"/>
          </a:xfrm>
          <a:prstGeom prst="rect">
            <a:avLst/>
          </a:prstGeom>
        </p:spPr>
      </p:pic>
      <p:pic>
        <p:nvPicPr>
          <p:cNvPr id="11" name="Imagen 10">
            <a:extLst>
              <a:ext uri="{FF2B5EF4-FFF2-40B4-BE49-F238E27FC236}">
                <a16:creationId xmlns:a16="http://schemas.microsoft.com/office/drawing/2014/main" id="{497B5496-026D-47D6-BFF9-E04E6EAA33A9}"/>
              </a:ext>
            </a:extLst>
          </p:cNvPr>
          <p:cNvPicPr>
            <a:picLocks noChangeAspect="1"/>
          </p:cNvPicPr>
          <p:nvPr/>
        </p:nvPicPr>
        <p:blipFill>
          <a:blip r:embed="rId4"/>
          <a:stretch>
            <a:fillRect/>
          </a:stretch>
        </p:blipFill>
        <p:spPr>
          <a:xfrm>
            <a:off x="7907867" y="1958527"/>
            <a:ext cx="3083601" cy="2157412"/>
          </a:xfrm>
          <a:prstGeom prst="rect">
            <a:avLst/>
          </a:prstGeom>
        </p:spPr>
      </p:pic>
      <p:sp>
        <p:nvSpPr>
          <p:cNvPr id="12" name="CuadroTexto 11">
            <a:extLst>
              <a:ext uri="{FF2B5EF4-FFF2-40B4-BE49-F238E27FC236}">
                <a16:creationId xmlns:a16="http://schemas.microsoft.com/office/drawing/2014/main" id="{CC689859-3031-47CF-8C69-A59D7BA0119F}"/>
              </a:ext>
            </a:extLst>
          </p:cNvPr>
          <p:cNvSpPr txBox="1"/>
          <p:nvPr/>
        </p:nvSpPr>
        <p:spPr>
          <a:xfrm>
            <a:off x="701671" y="1143000"/>
            <a:ext cx="2862795" cy="461665"/>
          </a:xfrm>
          <a:prstGeom prst="rect">
            <a:avLst/>
          </a:prstGeom>
          <a:noFill/>
        </p:spPr>
        <p:txBody>
          <a:bodyPr wrap="square">
            <a:spAutoFit/>
          </a:bodyPr>
          <a:lstStyle/>
          <a:p>
            <a:r>
              <a:rPr lang="es-ES" sz="1200" dirty="0"/>
              <a:t>Sección transversal del primer modo del </a:t>
            </a:r>
            <a:r>
              <a:rPr lang="es-ES" sz="1200" dirty="0" err="1"/>
              <a:t>modesolver</a:t>
            </a:r>
            <a:r>
              <a:rPr lang="es-ES" sz="1200" dirty="0"/>
              <a:t> (TE)</a:t>
            </a:r>
          </a:p>
        </p:txBody>
      </p:sp>
      <p:sp>
        <p:nvSpPr>
          <p:cNvPr id="13" name="CuadroTexto 12">
            <a:extLst>
              <a:ext uri="{FF2B5EF4-FFF2-40B4-BE49-F238E27FC236}">
                <a16:creationId xmlns:a16="http://schemas.microsoft.com/office/drawing/2014/main" id="{28C561EB-49FD-4380-852E-1DA2141918E3}"/>
              </a:ext>
            </a:extLst>
          </p:cNvPr>
          <p:cNvSpPr txBox="1"/>
          <p:nvPr/>
        </p:nvSpPr>
        <p:spPr>
          <a:xfrm>
            <a:off x="4428067" y="1141311"/>
            <a:ext cx="3667125" cy="276999"/>
          </a:xfrm>
          <a:prstGeom prst="rect">
            <a:avLst/>
          </a:prstGeom>
          <a:noFill/>
        </p:spPr>
        <p:txBody>
          <a:bodyPr wrap="square">
            <a:spAutoFit/>
          </a:bodyPr>
          <a:lstStyle/>
          <a:p>
            <a:r>
              <a:rPr lang="es-ES" sz="1200" dirty="0"/>
              <a:t>Sección transversal del modo 2 (TE)</a:t>
            </a:r>
          </a:p>
        </p:txBody>
      </p:sp>
      <p:sp>
        <p:nvSpPr>
          <p:cNvPr id="14" name="CuadroTexto 13">
            <a:extLst>
              <a:ext uri="{FF2B5EF4-FFF2-40B4-BE49-F238E27FC236}">
                <a16:creationId xmlns:a16="http://schemas.microsoft.com/office/drawing/2014/main" id="{6A807AC4-DA9A-4EDA-9FEC-E276A25029AE}"/>
              </a:ext>
            </a:extLst>
          </p:cNvPr>
          <p:cNvSpPr txBox="1"/>
          <p:nvPr/>
        </p:nvSpPr>
        <p:spPr>
          <a:xfrm>
            <a:off x="8060267" y="1143000"/>
            <a:ext cx="3810000" cy="276999"/>
          </a:xfrm>
          <a:prstGeom prst="rect">
            <a:avLst/>
          </a:prstGeom>
          <a:noFill/>
        </p:spPr>
        <p:txBody>
          <a:bodyPr wrap="square">
            <a:spAutoFit/>
          </a:bodyPr>
          <a:lstStyle/>
          <a:p>
            <a:r>
              <a:rPr lang="es-ES" sz="1200" dirty="0"/>
              <a:t>Sección transversal del modo 8 (TE).</a:t>
            </a:r>
          </a:p>
        </p:txBody>
      </p:sp>
    </p:spTree>
    <p:extLst>
      <p:ext uri="{BB962C8B-B14F-4D97-AF65-F5344CB8AC3E}">
        <p14:creationId xmlns:p14="http://schemas.microsoft.com/office/powerpoint/2010/main" val="4164403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1040</TotalTime>
  <Words>1196</Words>
  <Application>Microsoft Macintosh PowerPoint</Application>
  <PresentationFormat>Panorámica</PresentationFormat>
  <Paragraphs>141</Paragraphs>
  <Slides>10</Slides>
  <Notes>2</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10</vt:i4>
      </vt:variant>
    </vt:vector>
  </HeadingPairs>
  <TitlesOfParts>
    <vt:vector size="18"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Directional coupler cross-section in GDSFactory </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Multimode Interference (MMI) Coupler cross-section</vt:lpstr>
      <vt:lpstr>Learning outcome #2 – Multimode Interference (MMI) Coupler cross-section</vt:lpstr>
      <vt:lpstr>Learning outcome #2 – Multimode Interference (MMI) Coupler cross-section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Sergi Nacher Muñoz</cp:lastModifiedBy>
  <cp:revision>29</cp:revision>
  <dcterms:created xsi:type="dcterms:W3CDTF">2025-01-27T02:46:57Z</dcterms:created>
  <dcterms:modified xsi:type="dcterms:W3CDTF">2026-03-02T22:58:50Z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