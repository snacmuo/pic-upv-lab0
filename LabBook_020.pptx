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89" r:id="rId3"/>
    <p:sldId id="290" r:id="rId4"/>
    <p:sldId id="295" r:id="rId5"/>
    <p:sldId id="296" r:id="rId6"/>
    <p:sldId id="297" r:id="rId7"/>
    <p:sldId id="293" r:id="rId8"/>
    <p:sldId id="288" r:id="rId9"/>
    <p:sldId id="294" r:id="rId10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2B70BE-D945-421A-8843-7BFE17E8B716}" v="1" dt="2026-02-03T12:25:46.74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113" d="100"/>
          <a:sy n="113" d="100"/>
        </p:scale>
        <p:origin x="1056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delSld modSld">
      <pc:chgData name="Christian Camilo Cano Vasquez" userId="8c73a2a4-758b-4e34-81ed-39462e48bd92" providerId="ADAL" clId="{E6287060-0277-4BCC-9556-78F4A9113EC4}" dt="2026-02-03T12:26:13.728" v="13" actId="20577"/>
      <pc:docMkLst>
        <pc:docMk/>
      </pc:docMkLst>
      <pc:sldChg chg="modSp mod">
        <pc:chgData name="Christian Camilo Cano Vasquez" userId="8c73a2a4-758b-4e34-81ed-39462e48bd92" providerId="ADAL" clId="{E6287060-0277-4BCC-9556-78F4A9113EC4}" dt="2026-02-03T12:26:13.728" v="13" actId="20577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E6287060-0277-4BCC-9556-78F4A9113EC4}" dt="2026-02-03T12:26:13.728" v="13" actId="20577"/>
          <ac:spMkLst>
            <pc:docMk/>
            <pc:sldMk cId="560234623" sldId="289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03T12:24:53.171" v="0" actId="47"/>
        <pc:sldMkLst>
          <pc:docMk/>
          <pc:sldMk cId="3712356003" sldId="291"/>
        </pc:sldMkLst>
      </pc:sldChg>
      <pc:sldChg chg="modSp mod">
        <pc:chgData name="Christian Camilo Cano Vasquez" userId="8c73a2a4-758b-4e34-81ed-39462e48bd92" providerId="ADAL" clId="{E6287060-0277-4BCC-9556-78F4A9113EC4}" dt="2026-02-03T12:25:25.147" v="3" actId="115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03T12:25:25.147" v="3" actId="115"/>
          <ac:spMkLst>
            <pc:docMk/>
            <pc:sldMk cId="3660438245" sldId="293"/>
            <ac:spMk id="4" creationId="{D838A93A-BFC8-0124-93CE-FDC193435A0C}"/>
          </ac:spMkLst>
        </pc:spChg>
        <pc:spChg chg="mod">
          <ac:chgData name="Christian Camilo Cano Vasquez" userId="8c73a2a4-758b-4e34-81ed-39462e48bd92" providerId="ADAL" clId="{E6287060-0277-4BCC-9556-78F4A9113EC4}" dt="2026-02-03T12:25:18.697" v="1" actId="20577"/>
          <ac:spMkLst>
            <pc:docMk/>
            <pc:sldMk cId="3660438245" sldId="293"/>
            <ac:spMk id="16" creationId="{742C31CE-19F0-B995-0997-9A2D6A879BF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02/03/2026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02/03/2026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0.2. </a:t>
            </a:r>
            <a:r>
              <a:rPr lang="es-ES" sz="3200" b="1" dirty="0" err="1">
                <a:latin typeface="Lucida Sans"/>
                <a:cs typeface="Lucida Sans"/>
              </a:rPr>
              <a:t>Couplers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020_COUPLERS_Student.ipynb </a:t>
            </a:r>
          </a:p>
          <a:p>
            <a:pPr algn="just"/>
            <a:endParaRPr lang="en-US" b="1" i="1" dirty="0"/>
          </a:p>
          <a:p>
            <a:pPr algn="just"/>
            <a:r>
              <a:rPr lang="en-US" b="1" i="1" dirty="0"/>
              <a:t>Cross-Sections </a:t>
            </a:r>
            <a:r>
              <a:rPr lang="en-US" i="1" dirty="0"/>
              <a:t>to be studied:</a:t>
            </a:r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1241591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95778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229760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48179" y="4155787"/>
            <a:ext cx="914400" cy="89266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073955" y="3856694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352355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4421819" y="5309818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239000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7663179" y="4163346"/>
            <a:ext cx="3165333" cy="48374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10954" y="3926878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7663179" y="4325314"/>
            <a:ext cx="3165333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lang="es-ES" sz="1600" b="1" spc="-10" dirty="0">
                <a:latin typeface="Calibri"/>
                <a:cs typeface="Calibri"/>
              </a:rPr>
              <a:t>MMI </a:t>
            </a:r>
            <a:r>
              <a:rPr lang="es-ES" sz="1600" b="1" spc="-10" dirty="0" err="1">
                <a:latin typeface="Calibri"/>
                <a:cs typeface="Calibri"/>
              </a:rPr>
              <a:t>Body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7284458" y="5303772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7377675" y="5580458"/>
            <a:ext cx="3954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Multimode Interference (MMI) </a:t>
            </a:r>
            <a:r>
              <a:rPr lang="en-US" dirty="0"/>
              <a:t>coupler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1168826" y="5579058"/>
            <a:ext cx="27431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Directional </a:t>
            </a:r>
            <a:r>
              <a:rPr lang="en-US" dirty="0"/>
              <a:t>coupler (DC)</a:t>
            </a:r>
          </a:p>
        </p:txBody>
      </p:sp>
      <p:sp>
        <p:nvSpPr>
          <p:cNvPr id="7" name="object 73">
            <a:extLst>
              <a:ext uri="{FF2B5EF4-FFF2-40B4-BE49-F238E27FC236}">
                <a16:creationId xmlns:a16="http://schemas.microsoft.com/office/drawing/2014/main" id="{9404A65A-9F07-371B-17B4-56EE1381567B}"/>
              </a:ext>
            </a:extLst>
          </p:cNvPr>
          <p:cNvSpPr txBox="1"/>
          <p:nvPr/>
        </p:nvSpPr>
        <p:spPr>
          <a:xfrm>
            <a:off x="194817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9" name="object 64">
            <a:extLst>
              <a:ext uri="{FF2B5EF4-FFF2-40B4-BE49-F238E27FC236}">
                <a16:creationId xmlns:a16="http://schemas.microsoft.com/office/drawing/2014/main" id="{B06C28EB-4BF4-A40B-513B-ACC7E468CDC3}"/>
              </a:ext>
            </a:extLst>
          </p:cNvPr>
          <p:cNvSpPr/>
          <p:nvPr/>
        </p:nvSpPr>
        <p:spPr>
          <a:xfrm flipV="1">
            <a:off x="2911079" y="5067632"/>
            <a:ext cx="590401" cy="45719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63">
            <a:extLst>
              <a:ext uri="{FF2B5EF4-FFF2-40B4-BE49-F238E27FC236}">
                <a16:creationId xmlns:a16="http://schemas.microsoft.com/office/drawing/2014/main" id="{4601CBDA-CF6C-DA98-1398-C31497498862}"/>
              </a:ext>
            </a:extLst>
          </p:cNvPr>
          <p:cNvSpPr txBox="1"/>
          <p:nvPr/>
        </p:nvSpPr>
        <p:spPr>
          <a:xfrm>
            <a:off x="2939643" y="5090491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lang="es-ES" sz="1400" dirty="0">
                <a:latin typeface="Calibri"/>
                <a:cs typeface="Calibri"/>
              </a:rPr>
              <a:t>g</a:t>
            </a:r>
            <a:endParaRPr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</a:t>
            </a:r>
            <a:r>
              <a:rPr lang="es-ES" sz="1400" spc="-10" dirty="0">
                <a:latin typeface="Calibri"/>
                <a:cs typeface="Calibri"/>
              </a:rPr>
              <a:t>gap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11" name="object 62">
            <a:extLst>
              <a:ext uri="{FF2B5EF4-FFF2-40B4-BE49-F238E27FC236}">
                <a16:creationId xmlns:a16="http://schemas.microsoft.com/office/drawing/2014/main" id="{F1DAA8E2-74AD-BD39-C248-2324458F6D54}"/>
              </a:ext>
            </a:extLst>
          </p:cNvPr>
          <p:cNvSpPr/>
          <p:nvPr/>
        </p:nvSpPr>
        <p:spPr>
          <a:xfrm>
            <a:off x="7448782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63">
            <a:extLst>
              <a:ext uri="{FF2B5EF4-FFF2-40B4-BE49-F238E27FC236}">
                <a16:creationId xmlns:a16="http://schemas.microsoft.com/office/drawing/2014/main" id="{FCE9BE8C-E2F4-7CBE-236B-A2E5451F5C01}"/>
              </a:ext>
            </a:extLst>
          </p:cNvPr>
          <p:cNvSpPr txBox="1"/>
          <p:nvPr/>
        </p:nvSpPr>
        <p:spPr>
          <a:xfrm>
            <a:off x="6882764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AA9E72FF-B948-6B7A-8909-97C6BE95D6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>
                  <a:defRPr>
                    <a:latin typeface="+mn-lt"/>
                    <a:ea typeface="+mn-ea"/>
                    <a:cs typeface="+mn-cs"/>
                  </a:defRPr>
                </a:lvl1pPr>
                <a:lvl2pPr marL="457200">
                  <a:defRPr>
                    <a:latin typeface="+mn-lt"/>
                    <a:ea typeface="+mn-ea"/>
                    <a:cs typeface="+mn-cs"/>
                  </a:defRPr>
                </a:lvl2pPr>
                <a:lvl3pPr marL="914400">
                  <a:defRPr>
                    <a:latin typeface="+mn-lt"/>
                    <a:ea typeface="+mn-ea"/>
                    <a:cs typeface="+mn-cs"/>
                  </a:defRPr>
                </a:lvl3pPr>
                <a:lvl4pPr marL="1371600">
                  <a:defRPr>
                    <a:latin typeface="+mn-lt"/>
                    <a:ea typeface="+mn-ea"/>
                    <a:cs typeface="+mn-cs"/>
                  </a:defRPr>
                </a:lvl4pPr>
                <a:lvl5pPr marL="1828800">
                  <a:defRPr>
                    <a:latin typeface="+mn-lt"/>
                    <a:ea typeface="+mn-ea"/>
                    <a:cs typeface="+mn-cs"/>
                  </a:defRPr>
                </a:lvl5pPr>
                <a:lvl6pPr marL="2286000">
                  <a:defRPr>
                    <a:latin typeface="+mn-lt"/>
                    <a:ea typeface="+mn-ea"/>
                    <a:cs typeface="+mn-cs"/>
                  </a:defRPr>
                </a:lvl6pPr>
                <a:lvl7pPr marL="2743200">
                  <a:defRPr>
                    <a:latin typeface="+mn-lt"/>
                    <a:ea typeface="+mn-ea"/>
                    <a:cs typeface="+mn-cs"/>
                  </a:defRPr>
                </a:lvl7pPr>
                <a:lvl8pPr marL="3200400">
                  <a:defRPr>
                    <a:latin typeface="+mn-lt"/>
                    <a:ea typeface="+mn-ea"/>
                    <a:cs typeface="+mn-cs"/>
                  </a:defRPr>
                </a:lvl8pPr>
                <a:lvl9pPr marL="3657600">
                  <a:defRPr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/>
                  <a:t>INSTRUCTOR: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Present Python and </a:t>
                </a:r>
                <a:r>
                  <a:rPr lang="en-US" sz="2000" dirty="0" err="1"/>
                  <a:t>GDSFactory</a:t>
                </a:r>
                <a:r>
                  <a:rPr lang="en-US" sz="2000" dirty="0"/>
                  <a:t> implementation of DC cross-section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how to obtain the beating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the outputs.</a:t>
                </a:r>
              </a:p>
              <a:p>
                <a:pPr marL="0" indent="0" algn="just">
                  <a:buNone/>
                </a:pPr>
                <a:r>
                  <a:rPr lang="en-US" sz="2000" b="1" dirty="0"/>
                  <a:t>ALL EXAMPLE #1: </a:t>
                </a:r>
                <a:r>
                  <a:rPr lang="en-US" sz="2000" dirty="0"/>
                  <a:t>waveguide width 1.2 µm, gap between waveguides 0.6 µm, deep </a:t>
                </a:r>
                <a:r>
                  <a:rPr lang="en-US" sz="2000" dirty="0" err="1"/>
                  <a:t>wvg</a:t>
                </a:r>
                <a:r>
                  <a:rPr lang="en-US" sz="2000" dirty="0"/>
                  <a:t>, wavelength start and end same 1.55 µm </a:t>
                </a:r>
                <a:r>
                  <a:rPr lang="en-US" sz="2000" dirty="0">
                    <a:sym typeface="Wingdings" pitchFamily="2" charset="2"/>
                  </a:rPr>
                  <a:t> all ”Run”</a:t>
                </a:r>
                <a:endParaRPr lang="en-US" sz="2000" dirty="0"/>
              </a:p>
              <a:p>
                <a:pPr marL="0" indent="0" algn="just">
                  <a:buNone/>
                </a:pPr>
                <a:r>
                  <a:rPr lang="en-US" sz="2000" b="1" dirty="0"/>
                  <a:t>ALL: </a:t>
                </a:r>
                <a:r>
                  <a:rPr lang="en-US" sz="2000" dirty="0"/>
                  <a:t>Follow</a:t>
                </a:r>
                <a:r>
                  <a:rPr lang="en-US" sz="2000" b="1" dirty="0"/>
                  <a:t> </a:t>
                </a:r>
                <a:r>
                  <a:rPr lang="en-US" sz="2000" dirty="0"/>
                  <a:t>instructor, that will show how to 1) plot mode, 2) explore the results (neff …)</a:t>
                </a:r>
              </a:p>
              <a:p>
                <a:pPr algn="just"/>
                <a:endParaRPr lang="en-US" sz="2000" b="1" i="1" dirty="0"/>
              </a:p>
              <a:p>
                <a:pPr algn="just"/>
                <a:endParaRPr lang="en-US" sz="2000" kern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AA9E72FF-B948-6B7A-8909-97C6BE95D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  <a:blipFill>
                <a:blip r:embed="rId5"/>
                <a:stretch>
                  <a:fillRect l="-607" t="-738" r="-55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D0F8CF3B-B920-DBFC-F825-0C87B51EADA7}"/>
                  </a:ext>
                </a:extLst>
              </p:cNvPr>
              <p:cNvSpPr txBox="1"/>
              <p:nvPr/>
            </p:nvSpPr>
            <p:spPr>
              <a:xfrm>
                <a:off x="543456" y="3774468"/>
                <a:ext cx="11199971" cy="230832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Document all your results (neff, plot fields of different modes, comparison between different polarizations…)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obtener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 longitude de batido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2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tiene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que usar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diferencia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entre los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índices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efectivos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los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supermodos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pares 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impares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sección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cruzada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tanto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modo TE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modo TM. La formula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hallar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 longitude de batido es 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  <a:sym typeface="Wingdings" panose="05000000000000000000" pitchFamily="2" charset="2"/>
                  </a:rPr>
                  <a:t>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L_pi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= 0.5*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lambda_c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/(</a:t>
                </a:r>
                <a:r>
                  <a:rPr lang="pt-BR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n_e</a:t>
                </a:r>
                <a:r>
                  <a:rPr lang="pt-BR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- </a:t>
                </a:r>
                <a:r>
                  <a:rPr lang="pt-BR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n_o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D0F8CF3B-B920-DBFC-F825-0C87B51EA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56" y="3774468"/>
                <a:ext cx="11199971" cy="230832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BD5F6C9-C94E-4972-A435-0A8F21321D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914400"/>
            <a:ext cx="10972800" cy="1661993"/>
          </a:xfrm>
        </p:spPr>
        <p:txBody>
          <a:bodyPr/>
          <a:lstStyle/>
          <a:p>
            <a:r>
              <a:rPr lang="es-ES" sz="1200" dirty="0"/>
              <a:t>Índices efectivos para los 6 primeros modos:</a:t>
            </a:r>
          </a:p>
          <a:p>
            <a:r>
              <a:rPr lang="es-ES" sz="1200" dirty="0"/>
              <a:t>[1.60942484+1.02849974e-04j 1.60116589+9.83178135e-05j</a:t>
            </a:r>
          </a:p>
          <a:p>
            <a:r>
              <a:rPr lang="es-ES" sz="1200" dirty="0"/>
              <a:t> 1.53540293+1.77367472e-04j 1.52057329+1.77190584e-04j</a:t>
            </a:r>
          </a:p>
          <a:p>
            <a:r>
              <a:rPr lang="es-ES" sz="1200" dirty="0"/>
              <a:t> 1.45637592+1.78980401e-04j 1.44042642+2.10123701e-04j]</a:t>
            </a:r>
          </a:p>
          <a:p>
            <a:r>
              <a:rPr lang="es-ES" sz="1200" dirty="0"/>
              <a:t>Si nos fijamos en la parte real, podemos observar que se propagan los 5 primeros modos menos el último, ya que este ve un índice efectivo menor al del </a:t>
            </a:r>
            <a:r>
              <a:rPr lang="es-ES" sz="1200" dirty="0" err="1"/>
              <a:t>cladding</a:t>
            </a:r>
            <a:r>
              <a:rPr lang="es-ES" sz="1200" dirty="0"/>
              <a:t> (1.44).</a:t>
            </a:r>
          </a:p>
          <a:p>
            <a:endParaRPr lang="es-ES" sz="1200" dirty="0"/>
          </a:p>
          <a:p>
            <a:r>
              <a:rPr lang="es-ES" sz="1200" dirty="0"/>
              <a:t>Análisis del porcentaje de TE de cada modo:</a:t>
            </a:r>
          </a:p>
          <a:p>
            <a:r>
              <a:rPr lang="en-US" sz="1200" dirty="0"/>
              <a:t>array([0.994898  , 0.99527537, 0.00888064, 0.01130183, 0.97648502, 0.35301659])</a:t>
            </a:r>
          </a:p>
          <a:p>
            <a:r>
              <a:rPr lang="es-ES" sz="1200" dirty="0"/>
              <a:t>Podemos observar que los modos que serán más TE son el 1,2 y 5, mientras que los otros tres tendrán mayor componente TM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0CD65A1-9D4A-4D1C-AFBB-431764CDB3F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0.2. COUPLERS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FE1C107-890A-49C8-B1C9-17571AEBDB7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19" name="object 16">
            <a:extLst>
              <a:ext uri="{FF2B5EF4-FFF2-40B4-BE49-F238E27FC236}">
                <a16:creationId xmlns:a16="http://schemas.microsoft.com/office/drawing/2014/main" id="{8AFCDEA1-211D-4C75-AC9E-88A4F8E1B3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0550" y="206375"/>
            <a:ext cx="1099185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</p:spTree>
    <p:extLst>
      <p:ext uri="{BB962C8B-B14F-4D97-AF65-F5344CB8AC3E}">
        <p14:creationId xmlns:p14="http://schemas.microsoft.com/office/powerpoint/2010/main" val="2576272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0CD65A1-9D4A-4D1C-AFBB-431764CDB3F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FE1C107-890A-49C8-B1C9-17571AEBDB7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19" name="object 16">
            <a:extLst>
              <a:ext uri="{FF2B5EF4-FFF2-40B4-BE49-F238E27FC236}">
                <a16:creationId xmlns:a16="http://schemas.microsoft.com/office/drawing/2014/main" id="{8AFCDEA1-211D-4C75-AC9E-88A4F8E1B3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0550" y="206375"/>
            <a:ext cx="1099185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DD61F9A8-8DE6-4E15-99D3-7C3785E68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75" y="2513718"/>
            <a:ext cx="2446794" cy="1672764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A180171A-F02F-45C9-BAE2-9B9BAA96ED8E}"/>
              </a:ext>
            </a:extLst>
          </p:cNvPr>
          <p:cNvSpPr txBox="1"/>
          <p:nvPr/>
        </p:nvSpPr>
        <p:spPr>
          <a:xfrm>
            <a:off x="457200" y="1820851"/>
            <a:ext cx="356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Sección transversal del primer modo, correspondiente </a:t>
            </a:r>
          </a:p>
          <a:p>
            <a:r>
              <a:rPr lang="es-ES" sz="1200" dirty="0"/>
              <a:t>al </a:t>
            </a:r>
            <a:r>
              <a:rPr lang="es-ES" sz="1200" dirty="0" err="1"/>
              <a:t>supermodo</a:t>
            </a:r>
            <a:r>
              <a:rPr lang="es-ES" sz="1200" dirty="0"/>
              <a:t> par (simétrico):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7FE54070-91AB-4845-9A14-1C9758B25FE9}"/>
              </a:ext>
            </a:extLst>
          </p:cNvPr>
          <p:cNvSpPr txBox="1"/>
          <p:nvPr/>
        </p:nvSpPr>
        <p:spPr>
          <a:xfrm>
            <a:off x="4419600" y="1805421"/>
            <a:ext cx="381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Sección transversal del segundo modo, correspondiente </a:t>
            </a:r>
          </a:p>
          <a:p>
            <a:r>
              <a:rPr lang="es-ES" sz="1200" dirty="0"/>
              <a:t>al </a:t>
            </a:r>
            <a:r>
              <a:rPr lang="es-ES" sz="1200" dirty="0" err="1"/>
              <a:t>supermodo</a:t>
            </a:r>
            <a:r>
              <a:rPr lang="es-ES" sz="1200" dirty="0"/>
              <a:t> impar (antisimétrico), donde el campo eléctrico oscila en contrafase: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7175DEC3-BAB8-459C-A918-FF0F2F330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537285"/>
            <a:ext cx="2766144" cy="1852031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95AA9E3F-FF5B-4AA4-9AB8-B35AB95052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0169" y="2384573"/>
            <a:ext cx="3108861" cy="2077915"/>
          </a:xfrm>
          <a:prstGeom prst="rect">
            <a:avLst/>
          </a:prstGeom>
        </p:spPr>
      </p:pic>
      <p:sp>
        <p:nvSpPr>
          <p:cNvPr id="25" name="CuadroTexto 24">
            <a:extLst>
              <a:ext uri="{FF2B5EF4-FFF2-40B4-BE49-F238E27FC236}">
                <a16:creationId xmlns:a16="http://schemas.microsoft.com/office/drawing/2014/main" id="{3D565E00-F368-4503-B3C8-4754391FF88F}"/>
              </a:ext>
            </a:extLst>
          </p:cNvPr>
          <p:cNvSpPr txBox="1"/>
          <p:nvPr/>
        </p:nvSpPr>
        <p:spPr>
          <a:xfrm>
            <a:off x="8229600" y="1738108"/>
            <a:ext cx="381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Sección transversal del tercer modo. Podemos observar que tiene </a:t>
            </a:r>
            <a:r>
              <a:rPr lang="es-ES" sz="1200" dirty="0" err="1"/>
              <a:t>comoponente</a:t>
            </a:r>
            <a:r>
              <a:rPr lang="es-ES" sz="1200" dirty="0"/>
              <a:t> en el modo TM.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811EB3F4-7E8D-4382-BF5B-331FEE8A54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375" y="4495800"/>
            <a:ext cx="2562249" cy="1746988"/>
          </a:xfrm>
          <a:prstGeom prst="rect">
            <a:avLst/>
          </a:prstGeom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B92B350C-C75E-436C-AE0E-BFE2A5580519}"/>
              </a:ext>
            </a:extLst>
          </p:cNvPr>
          <p:cNvSpPr txBox="1"/>
          <p:nvPr/>
        </p:nvSpPr>
        <p:spPr>
          <a:xfrm>
            <a:off x="457200" y="1053093"/>
            <a:ext cx="109918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A continuación se va a mostrar la sección transversal de los modos. En la parte de arriba se muestra el análisis del modo TE y en el modo TM. </a:t>
            </a:r>
          </a:p>
        </p:txBody>
      </p:sp>
    </p:spTree>
    <p:extLst>
      <p:ext uri="{BB962C8B-B14F-4D97-AF65-F5344CB8AC3E}">
        <p14:creationId xmlns:p14="http://schemas.microsoft.com/office/powerpoint/2010/main" val="29438141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0CD65A1-9D4A-4D1C-AFBB-431764CDB3F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FE1C107-890A-49C8-B1C9-17571AEBDB7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4E1AF72-69FD-4F13-A583-23A04ADA921C}"/>
              </a:ext>
            </a:extLst>
          </p:cNvPr>
          <p:cNvSpPr txBox="1"/>
          <p:nvPr/>
        </p:nvSpPr>
        <p:spPr>
          <a:xfrm>
            <a:off x="457200" y="1066800"/>
            <a:ext cx="35665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Sección transversal del cuarto modo (TM). Se puede observar que hay algo de confinamiento dentro del núcleo pero hay mucha componente de la luz que viaja por la cubierta.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AA8074F-CEBA-4A99-A526-1BABDCAAD773}"/>
              </a:ext>
            </a:extLst>
          </p:cNvPr>
          <p:cNvSpPr txBox="1"/>
          <p:nvPr/>
        </p:nvSpPr>
        <p:spPr>
          <a:xfrm>
            <a:off x="4343400" y="1050571"/>
            <a:ext cx="381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Sección transversal del quinto modo: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60E0D21-B3A1-4B49-856F-A20EC0CC9FDA}"/>
              </a:ext>
            </a:extLst>
          </p:cNvPr>
          <p:cNvSpPr txBox="1"/>
          <p:nvPr/>
        </p:nvSpPr>
        <p:spPr>
          <a:xfrm>
            <a:off x="8153400" y="983258"/>
            <a:ext cx="381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Sección transversal del sexto modo. Podemos observar que, en este caso, como se había predicho anteriormente el modo estará en corte y no se propagará por la guía. </a:t>
            </a:r>
          </a:p>
        </p:txBody>
      </p:sp>
      <p:sp>
        <p:nvSpPr>
          <p:cNvPr id="19" name="object 16">
            <a:extLst>
              <a:ext uri="{FF2B5EF4-FFF2-40B4-BE49-F238E27FC236}">
                <a16:creationId xmlns:a16="http://schemas.microsoft.com/office/drawing/2014/main" id="{8AFCDEA1-211D-4C75-AC9E-88A4F8E1B3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0550" y="206375"/>
            <a:ext cx="1099185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3D5037E-4F8A-49CA-8696-7B930F3AA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017" y="2017905"/>
            <a:ext cx="2920583" cy="196046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3D266487-5B72-4CC0-9284-5C2D4C4986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846" y="2034838"/>
            <a:ext cx="2928091" cy="196046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8EA11661-8D45-408C-8C2B-63285CA9D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900" y="2026371"/>
            <a:ext cx="2857834" cy="194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447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Multimode Interference (MMI) Coupler cross-section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D838A93A-BFC8-0124-93CE-FDC193435A0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>
                  <a:defRPr>
                    <a:latin typeface="+mn-lt"/>
                    <a:ea typeface="+mn-ea"/>
                    <a:cs typeface="+mn-cs"/>
                  </a:defRPr>
                </a:lvl1pPr>
                <a:lvl2pPr marL="457200">
                  <a:defRPr>
                    <a:latin typeface="+mn-lt"/>
                    <a:ea typeface="+mn-ea"/>
                    <a:cs typeface="+mn-cs"/>
                  </a:defRPr>
                </a:lvl2pPr>
                <a:lvl3pPr marL="914400">
                  <a:defRPr>
                    <a:latin typeface="+mn-lt"/>
                    <a:ea typeface="+mn-ea"/>
                    <a:cs typeface="+mn-cs"/>
                  </a:defRPr>
                </a:lvl3pPr>
                <a:lvl4pPr marL="1371600">
                  <a:defRPr>
                    <a:latin typeface="+mn-lt"/>
                    <a:ea typeface="+mn-ea"/>
                    <a:cs typeface="+mn-cs"/>
                  </a:defRPr>
                </a:lvl4pPr>
                <a:lvl5pPr marL="1828800">
                  <a:defRPr>
                    <a:latin typeface="+mn-lt"/>
                    <a:ea typeface="+mn-ea"/>
                    <a:cs typeface="+mn-cs"/>
                  </a:defRPr>
                </a:lvl5pPr>
                <a:lvl6pPr marL="2286000">
                  <a:defRPr>
                    <a:latin typeface="+mn-lt"/>
                    <a:ea typeface="+mn-ea"/>
                    <a:cs typeface="+mn-cs"/>
                  </a:defRPr>
                </a:lvl6pPr>
                <a:lvl7pPr marL="2743200">
                  <a:defRPr>
                    <a:latin typeface="+mn-lt"/>
                    <a:ea typeface="+mn-ea"/>
                    <a:cs typeface="+mn-cs"/>
                  </a:defRPr>
                </a:lvl7pPr>
                <a:lvl8pPr marL="3200400">
                  <a:defRPr>
                    <a:latin typeface="+mn-lt"/>
                    <a:ea typeface="+mn-ea"/>
                    <a:cs typeface="+mn-cs"/>
                  </a:defRPr>
                </a:lvl8pPr>
                <a:lvl9pPr marL="3657600">
                  <a:defRPr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/>
                  <a:t>INSTRUCTOR: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Present Python and </a:t>
                </a:r>
                <a:r>
                  <a:rPr lang="en-US" sz="2000" dirty="0" err="1"/>
                  <a:t>GDSFactory</a:t>
                </a:r>
                <a:r>
                  <a:rPr lang="en-US" sz="2000" dirty="0"/>
                  <a:t> implementation of DC cross-section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how to obtain the beating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the outputs.</a:t>
                </a:r>
              </a:p>
              <a:p>
                <a:pPr marL="0" indent="0" algn="just">
                  <a:buNone/>
                </a:pPr>
                <a:r>
                  <a:rPr lang="en-US" sz="2000" b="1" dirty="0"/>
                  <a:t>ALL EXAMPLE #2: </a:t>
                </a:r>
                <a:r>
                  <a:rPr lang="en-US" sz="2000" dirty="0"/>
                  <a:t>waveguide width 12 µm, gap between waveguides 0.6 µm, deep </a:t>
                </a:r>
                <a:r>
                  <a:rPr lang="en-US" sz="2000" dirty="0" err="1"/>
                  <a:t>wvg</a:t>
                </a:r>
                <a:r>
                  <a:rPr lang="en-US" sz="2000" dirty="0"/>
                  <a:t>, wavelength start and end same 1.55 µm </a:t>
                </a:r>
                <a:r>
                  <a:rPr lang="en-US" sz="2000" dirty="0">
                    <a:sym typeface="Wingdings" pitchFamily="2" charset="2"/>
                  </a:rPr>
                  <a:t> all ”Run”</a:t>
                </a:r>
                <a:endParaRPr lang="en-US" sz="2000" dirty="0"/>
              </a:p>
              <a:p>
                <a:pPr marL="0" indent="0" algn="just">
                  <a:buNone/>
                </a:pPr>
                <a:r>
                  <a:rPr lang="en-US" sz="2000" b="1" dirty="0"/>
                  <a:t>ALL: </a:t>
                </a:r>
                <a:r>
                  <a:rPr lang="en-US" sz="2000" dirty="0"/>
                  <a:t>Follow</a:t>
                </a:r>
                <a:r>
                  <a:rPr lang="en-US" sz="2000" b="1" dirty="0"/>
                  <a:t> </a:t>
                </a:r>
                <a:r>
                  <a:rPr lang="en-US" sz="2000" dirty="0"/>
                  <a:t>instructor, that will show how to 1) plot mode, 2) explore the results (neff …)</a:t>
                </a:r>
              </a:p>
              <a:p>
                <a:pPr algn="just"/>
                <a:endParaRPr lang="en-US" sz="2000" b="1" i="1" u="sng" dirty="0"/>
              </a:p>
              <a:p>
                <a:pPr algn="just"/>
                <a:endParaRPr lang="en-US" sz="2000" kern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D838A93A-BFC8-0124-93CE-FDC193435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  <a:blipFill>
                <a:blip r:embed="rId5"/>
                <a:stretch>
                  <a:fillRect l="-607" t="-738" r="-55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142EF5-74F6-4935-9D72-DB4F48743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2710A37-98E0-4CCF-8EF0-9D8D84970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553998"/>
          </a:xfrm>
        </p:spPr>
        <p:txBody>
          <a:bodyPr/>
          <a:lstStyle/>
          <a:p>
            <a:r>
              <a:rPr lang="es-ES" sz="1200" dirty="0"/>
              <a:t>De pendiendo de la distancia  a la que se corta la longitud del MMI se va a tener una autoimagen determinada</a:t>
            </a:r>
          </a:p>
          <a:p>
            <a:endParaRPr lang="es-ES" sz="1200" dirty="0"/>
          </a:p>
          <a:p>
            <a:r>
              <a:rPr lang="es-ES" sz="1200" dirty="0"/>
              <a:t>Calcular …, …, </a:t>
            </a:r>
            <a:r>
              <a:rPr lang="es-ES" sz="1200" dirty="0" err="1"/>
              <a:t>L_pi</a:t>
            </a:r>
            <a:endParaRPr lang="es-ES" sz="1200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4DDB22E-DB66-41AA-A98E-87234657D44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53D5AE1-CE5A-4543-9BE3-C8AA193522C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0800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853</TotalTime>
  <Words>722</Words>
  <Application>Microsoft Office PowerPoint</Application>
  <PresentationFormat>Panorámica</PresentationFormat>
  <Paragraphs>99</Paragraphs>
  <Slides>9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6" baseType="lpstr">
      <vt:lpstr>Aptos</vt:lpstr>
      <vt:lpstr>Arial</vt:lpstr>
      <vt:lpstr>Calibri</vt:lpstr>
      <vt:lpstr>Cambria Math</vt:lpstr>
      <vt:lpstr>Lucida Sans</vt:lpstr>
      <vt:lpstr>Times New Roman</vt:lpstr>
      <vt:lpstr>Office Theme</vt:lpstr>
      <vt:lpstr>Presentación de PowerPoint</vt:lpstr>
      <vt:lpstr>Instructions General</vt:lpstr>
      <vt:lpstr>Learning outcome #1 – Directional coupler cross-section in GDSFactory </vt:lpstr>
      <vt:lpstr>Learning outcome #1 – Directional coupler cross-section in GDSFactory </vt:lpstr>
      <vt:lpstr>Learning outcome #1 – Directional coupler cross-section in GDSFactory </vt:lpstr>
      <vt:lpstr>Learning outcome #1 – Directional coupler cross-section in GDSFactory </vt:lpstr>
      <vt:lpstr>Learning outcome #2 – Multimode Interference (MMI) Coupler cross-section</vt:lpstr>
      <vt:lpstr>Thank you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cfp</cp:lastModifiedBy>
  <cp:revision>17</cp:revision>
  <dcterms:created xsi:type="dcterms:W3CDTF">2025-01-27T02:46:57Z</dcterms:created>
  <dcterms:modified xsi:type="dcterms:W3CDTF">2026-03-02T16:27:12Z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