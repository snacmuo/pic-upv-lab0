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3"/>
  </p:notesMasterIdLst>
  <p:handoutMasterIdLst>
    <p:handoutMasterId r:id="rId14"/>
  </p:handoutMasterIdLst>
  <p:sldIdLst>
    <p:sldId id="256" r:id="rId2"/>
    <p:sldId id="289" r:id="rId3"/>
    <p:sldId id="290" r:id="rId4"/>
    <p:sldId id="295" r:id="rId5"/>
    <p:sldId id="296" r:id="rId6"/>
    <p:sldId id="297" r:id="rId7"/>
    <p:sldId id="293" r:id="rId8"/>
    <p:sldId id="298" r:id="rId9"/>
    <p:sldId id="299" r:id="rId10"/>
    <p:sldId id="288" r:id="rId11"/>
    <p:sldId id="294" r:id="rId12"/>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2B70BE-D945-421A-8843-7BFE17E8B716}" v="1" dt="2026-02-03T12:25:46.74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8" autoAdjust="0"/>
    <p:restoredTop sz="95033" autoAdjust="0"/>
  </p:normalViewPr>
  <p:slideViewPr>
    <p:cSldViewPr>
      <p:cViewPr varScale="1">
        <p:scale>
          <a:sx n="113" d="100"/>
          <a:sy n="113" d="100"/>
        </p:scale>
        <p:origin x="1056" y="102"/>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ian Camilo Cano Vasquez" userId="8c73a2a4-758b-4e34-81ed-39462e48bd92" providerId="ADAL" clId="{E6287060-0277-4BCC-9556-78F4A9113EC4}"/>
    <pc:docChg chg="delSld modSld">
      <pc:chgData name="Christian Camilo Cano Vasquez" userId="8c73a2a4-758b-4e34-81ed-39462e48bd92" providerId="ADAL" clId="{E6287060-0277-4BCC-9556-78F4A9113EC4}" dt="2026-02-03T12:26:13.728" v="13" actId="20577"/>
      <pc:docMkLst>
        <pc:docMk/>
      </pc:docMkLst>
      <pc:sldChg chg="modSp mod">
        <pc:chgData name="Christian Camilo Cano Vasquez" userId="8c73a2a4-758b-4e34-81ed-39462e48bd92" providerId="ADAL" clId="{E6287060-0277-4BCC-9556-78F4A9113EC4}" dt="2026-02-03T12:26:13.728" v="13" actId="20577"/>
        <pc:sldMkLst>
          <pc:docMk/>
          <pc:sldMk cId="560234623" sldId="289"/>
        </pc:sldMkLst>
        <pc:spChg chg="mod">
          <ac:chgData name="Christian Camilo Cano Vasquez" userId="8c73a2a4-758b-4e34-81ed-39462e48bd92" providerId="ADAL" clId="{E6287060-0277-4BCC-9556-78F4A9113EC4}" dt="2026-02-03T12:26:13.728" v="13" actId="20577"/>
          <ac:spMkLst>
            <pc:docMk/>
            <pc:sldMk cId="560234623" sldId="289"/>
            <ac:spMk id="4" creationId="{9F7BC140-B3D8-C3CB-55AD-9064C7CDE9CA}"/>
          </ac:spMkLst>
        </pc:spChg>
      </pc:sldChg>
      <pc:sldChg chg="del">
        <pc:chgData name="Christian Camilo Cano Vasquez" userId="8c73a2a4-758b-4e34-81ed-39462e48bd92" providerId="ADAL" clId="{E6287060-0277-4BCC-9556-78F4A9113EC4}" dt="2026-02-03T12:24:53.171" v="0" actId="47"/>
        <pc:sldMkLst>
          <pc:docMk/>
          <pc:sldMk cId="3712356003" sldId="291"/>
        </pc:sldMkLst>
      </pc:sldChg>
      <pc:sldChg chg="modSp mod">
        <pc:chgData name="Christian Camilo Cano Vasquez" userId="8c73a2a4-758b-4e34-81ed-39462e48bd92" providerId="ADAL" clId="{E6287060-0277-4BCC-9556-78F4A9113EC4}" dt="2026-02-03T12:25:25.147" v="3" actId="115"/>
        <pc:sldMkLst>
          <pc:docMk/>
          <pc:sldMk cId="3660438245" sldId="293"/>
        </pc:sldMkLst>
        <pc:spChg chg="mod">
          <ac:chgData name="Christian Camilo Cano Vasquez" userId="8c73a2a4-758b-4e34-81ed-39462e48bd92" providerId="ADAL" clId="{E6287060-0277-4BCC-9556-78F4A9113EC4}" dt="2026-02-03T12:25:25.147" v="3" actId="115"/>
          <ac:spMkLst>
            <pc:docMk/>
            <pc:sldMk cId="3660438245" sldId="293"/>
            <ac:spMk id="4" creationId="{D838A93A-BFC8-0124-93CE-FDC193435A0C}"/>
          </ac:spMkLst>
        </pc:spChg>
        <pc:spChg chg="mod">
          <ac:chgData name="Christian Camilo Cano Vasquez" userId="8c73a2a4-758b-4e34-81ed-39462e48bd92" providerId="ADAL" clId="{E6287060-0277-4BCC-9556-78F4A9113EC4}" dt="2026-02-03T12:25:18.697" v="1" actId="20577"/>
          <ac:spMkLst>
            <pc:docMk/>
            <pc:sldMk cId="3660438245" sldId="293"/>
            <ac:spMk id="16" creationId="{742C31CE-19F0-B995-0997-9A2D6A879BF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02/03/2026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02/03/2026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2917382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0.2. COUPLERS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0.2. COUPLERS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0.2. COUPLERS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0.2. COUPLERS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s://github.com/cccanvas-upv/pic-upv-lab0.git"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80.png"/><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0.2. </a:t>
            </a:r>
            <a:r>
              <a:rPr lang="es-ES" sz="3200" b="1" dirty="0" err="1">
                <a:latin typeface="Lucida Sans"/>
                <a:cs typeface="Lucida Sans"/>
              </a:rPr>
              <a:t>Couplers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Student:Sergi</a:t>
            </a:r>
            <a:r>
              <a:rPr lang="es-ES" spc="165" dirty="0">
                <a:latin typeface="Arial"/>
                <a:cs typeface="Arial"/>
              </a:rPr>
              <a:t> </a:t>
            </a:r>
            <a:r>
              <a:rPr lang="es-ES" spc="165" dirty="0" err="1">
                <a:latin typeface="Arial"/>
                <a:cs typeface="Arial"/>
              </a:rPr>
              <a:t>Nàcher</a:t>
            </a:r>
            <a:r>
              <a:rPr lang="es-ES" spc="165" dirty="0">
                <a:latin typeface="Arial"/>
                <a:cs typeface="Arial"/>
              </a:rPr>
              <a:t> Muñoz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0.2. COUPLERS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a:t>
            </a:r>
            <a:r>
              <a:rPr lang="en-US" kern="0" dirty="0">
                <a:solidFill>
                  <a:sysClr val="windowText" lastClr="000000"/>
                </a:solidFill>
                <a:sym typeface="Wingdings" pitchFamily="2" charset="2"/>
                <a:hlinkClick r:id="rId4"/>
              </a:rPr>
              <a:t>https://github.com/cccanvas-upv/pic-upv-lab0.git</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a:solidFill>
                  <a:sysClr val="windowText" lastClr="000000"/>
                </a:solidFill>
              </a:rPr>
              <a:t>020_COUPLERS_Student.ipynb </a:t>
            </a:r>
          </a:p>
          <a:p>
            <a:pPr algn="just"/>
            <a:endParaRPr lang="en-US" b="1" i="1" dirty="0"/>
          </a:p>
          <a:p>
            <a:pPr algn="just"/>
            <a:r>
              <a:rPr lang="en-US" b="1" i="1" dirty="0"/>
              <a:t>Cross-Sections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1241591"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97" name="object 62">
            <a:extLst>
              <a:ext uri="{FF2B5EF4-FFF2-40B4-BE49-F238E27FC236}">
                <a16:creationId xmlns:a16="http://schemas.microsoft.com/office/drawing/2014/main" id="{13E0425E-CEDF-CBC4-B34B-0CC3951920EA}"/>
              </a:ext>
            </a:extLst>
          </p:cNvPr>
          <p:cNvSpPr/>
          <p:nvPr/>
        </p:nvSpPr>
        <p:spPr>
          <a:xfrm>
            <a:off x="1795778"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229760"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48179" y="4155787"/>
            <a:ext cx="914400" cy="89266"/>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073955" y="3856694"/>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352355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4421819" y="5309818"/>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239000"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114" name="object 64">
            <a:extLst>
              <a:ext uri="{FF2B5EF4-FFF2-40B4-BE49-F238E27FC236}">
                <a16:creationId xmlns:a16="http://schemas.microsoft.com/office/drawing/2014/main" id="{D9E5D738-CA47-1898-E0D8-DFBC514F5A50}"/>
              </a:ext>
            </a:extLst>
          </p:cNvPr>
          <p:cNvSpPr/>
          <p:nvPr/>
        </p:nvSpPr>
        <p:spPr>
          <a:xfrm>
            <a:off x="7663179" y="4163346"/>
            <a:ext cx="3165333" cy="48374"/>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10954" y="3926878"/>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7663179" y="4325314"/>
            <a:ext cx="3165333"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lang="es-ES" sz="1600" b="1" spc="-10" dirty="0">
                <a:latin typeface="Calibri"/>
                <a:cs typeface="Calibri"/>
              </a:rPr>
              <a:t>MMI </a:t>
            </a:r>
            <a:r>
              <a:rPr lang="es-ES" sz="1600" b="1" spc="-10" dirty="0" err="1">
                <a:latin typeface="Calibri"/>
                <a:cs typeface="Calibri"/>
              </a:rPr>
              <a:t>Body</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7284458" y="5303772"/>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7377675" y="5580458"/>
            <a:ext cx="3954288" cy="369332"/>
          </a:xfrm>
          <a:prstGeom prst="rect">
            <a:avLst/>
          </a:prstGeom>
          <a:noFill/>
        </p:spPr>
        <p:txBody>
          <a:bodyPr wrap="none" rtlCol="0">
            <a:spAutoFit/>
          </a:bodyPr>
          <a:lstStyle/>
          <a:p>
            <a:pPr algn="r"/>
            <a:r>
              <a:rPr lang="en-US" b="1" dirty="0"/>
              <a:t>Multimode Interference (MMI) </a:t>
            </a:r>
            <a:r>
              <a:rPr lang="en-US" dirty="0"/>
              <a:t>coupler</a:t>
            </a:r>
            <a:r>
              <a:rPr lang="en-US" b="1" dirty="0"/>
              <a:t> </a:t>
            </a:r>
            <a:endParaRPr lang="en-US"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168826" y="5579058"/>
            <a:ext cx="2743199" cy="369332"/>
          </a:xfrm>
          <a:prstGeom prst="rect">
            <a:avLst/>
          </a:prstGeom>
          <a:noFill/>
        </p:spPr>
        <p:txBody>
          <a:bodyPr wrap="square">
            <a:spAutoFit/>
          </a:bodyPr>
          <a:lstStyle/>
          <a:p>
            <a:r>
              <a:rPr lang="en-US" b="1" dirty="0"/>
              <a:t>Directional </a:t>
            </a:r>
            <a:r>
              <a:rPr lang="en-US" dirty="0"/>
              <a:t>coupler (DC)</a:t>
            </a:r>
          </a:p>
        </p:txBody>
      </p:sp>
      <p:sp>
        <p:nvSpPr>
          <p:cNvPr id="7" name="object 73">
            <a:extLst>
              <a:ext uri="{FF2B5EF4-FFF2-40B4-BE49-F238E27FC236}">
                <a16:creationId xmlns:a16="http://schemas.microsoft.com/office/drawing/2014/main" id="{9404A65A-9F07-371B-17B4-56EE1381567B}"/>
              </a:ext>
            </a:extLst>
          </p:cNvPr>
          <p:cNvSpPr txBox="1"/>
          <p:nvPr/>
        </p:nvSpPr>
        <p:spPr>
          <a:xfrm>
            <a:off x="194817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9" name="object 64">
            <a:extLst>
              <a:ext uri="{FF2B5EF4-FFF2-40B4-BE49-F238E27FC236}">
                <a16:creationId xmlns:a16="http://schemas.microsoft.com/office/drawing/2014/main" id="{B06C28EB-4BF4-A40B-513B-ACC7E468CDC3}"/>
              </a:ext>
            </a:extLst>
          </p:cNvPr>
          <p:cNvSpPr/>
          <p:nvPr/>
        </p:nvSpPr>
        <p:spPr>
          <a:xfrm flipV="1">
            <a:off x="2911079" y="5067632"/>
            <a:ext cx="590401" cy="45719"/>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 name="object 63">
            <a:extLst>
              <a:ext uri="{FF2B5EF4-FFF2-40B4-BE49-F238E27FC236}">
                <a16:creationId xmlns:a16="http://schemas.microsoft.com/office/drawing/2014/main" id="{4601CBDA-CF6C-DA98-1398-C31497498862}"/>
              </a:ext>
            </a:extLst>
          </p:cNvPr>
          <p:cNvSpPr txBox="1"/>
          <p:nvPr/>
        </p:nvSpPr>
        <p:spPr>
          <a:xfrm>
            <a:off x="2939643" y="5090491"/>
            <a:ext cx="577850" cy="454025"/>
          </a:xfrm>
          <a:prstGeom prst="rect">
            <a:avLst/>
          </a:prstGeom>
        </p:spPr>
        <p:txBody>
          <a:bodyPr vert="horz" wrap="square" lIns="0" tIns="13335" rIns="0" bIns="0" rtlCol="0">
            <a:spAutoFit/>
          </a:bodyPr>
          <a:lstStyle/>
          <a:p>
            <a:pPr marR="3175" algn="ctr">
              <a:lnSpc>
                <a:spcPct val="100000"/>
              </a:lnSpc>
              <a:spcBef>
                <a:spcPts val="105"/>
              </a:spcBef>
            </a:pPr>
            <a:r>
              <a:rPr lang="es-ES" sz="1400" dirty="0">
                <a:latin typeface="Calibri"/>
                <a:cs typeface="Calibri"/>
              </a:rPr>
              <a:t>g</a:t>
            </a:r>
            <a:endParaRPr sz="1400" dirty="0">
              <a:latin typeface="Calibri"/>
              <a:cs typeface="Calibri"/>
            </a:endParaRPr>
          </a:p>
          <a:p>
            <a:pPr marR="5080" algn="ctr">
              <a:lnSpc>
                <a:spcPct val="100000"/>
              </a:lnSpc>
              <a:spcBef>
                <a:spcPts val="5"/>
              </a:spcBef>
            </a:pPr>
            <a:r>
              <a:rPr sz="1400" spc="-10" dirty="0">
                <a:latin typeface="Calibri"/>
                <a:cs typeface="Calibri"/>
              </a:rPr>
              <a:t>(</a:t>
            </a:r>
            <a:r>
              <a:rPr lang="es-ES" sz="1400" spc="-10" dirty="0">
                <a:latin typeface="Calibri"/>
                <a:cs typeface="Calibri"/>
              </a:rPr>
              <a:t>gap</a:t>
            </a:r>
            <a:r>
              <a:rPr sz="1400" dirty="0">
                <a:latin typeface="Calibri"/>
                <a:cs typeface="Calibri"/>
              </a:rPr>
              <a:t>)</a:t>
            </a:r>
          </a:p>
        </p:txBody>
      </p:sp>
      <p:sp>
        <p:nvSpPr>
          <p:cNvPr id="11" name="object 62">
            <a:extLst>
              <a:ext uri="{FF2B5EF4-FFF2-40B4-BE49-F238E27FC236}">
                <a16:creationId xmlns:a16="http://schemas.microsoft.com/office/drawing/2014/main" id="{F1DAA8E2-74AD-BD39-C248-2324458F6D54}"/>
              </a:ext>
            </a:extLst>
          </p:cNvPr>
          <p:cNvSpPr/>
          <p:nvPr/>
        </p:nvSpPr>
        <p:spPr>
          <a:xfrm>
            <a:off x="7448782"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 name="object 63">
            <a:extLst>
              <a:ext uri="{FF2B5EF4-FFF2-40B4-BE49-F238E27FC236}">
                <a16:creationId xmlns:a16="http://schemas.microsoft.com/office/drawing/2014/main" id="{FCE9BE8C-E2F4-7CBE-236B-A2E5451F5C01}"/>
              </a:ext>
            </a:extLst>
          </p:cNvPr>
          <p:cNvSpPr txBox="1"/>
          <p:nvPr/>
        </p:nvSpPr>
        <p:spPr>
          <a:xfrm>
            <a:off x="6882764"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Directional coupler cross-section in </a:t>
            </a:r>
            <a:r>
              <a:rPr lang="en-US" sz="2500" dirty="0" err="1"/>
              <a:t>GDSFactory</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0.2. COUPLERS</a:t>
            </a:r>
            <a:endParaRPr lang="es-ES" spc="-5" dirty="0"/>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DC cross-section</a:t>
                </a:r>
              </a:p>
              <a:p>
                <a:pPr marL="342900" indent="-342900" algn="just">
                  <a:buFont typeface="Arial" panose="020B0604020202020204" pitchFamily="34" charset="0"/>
                  <a:buChar char="•"/>
                </a:pPr>
                <a:r>
                  <a:rPr lang="en-US" sz="2000" dirty="0"/>
                  <a:t>Describe how to obtain the beating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sz="2000" b="1" dirty="0"/>
                  <a:t>ALL EXAMPLE #1: </a:t>
                </a:r>
                <a:r>
                  <a:rPr lang="en-US" sz="2000" dirty="0"/>
                  <a:t>waveguide width 1.2 µm, gap between waveguides 0.6 µm, deep </a:t>
                </a:r>
                <a:r>
                  <a:rPr lang="en-US" sz="2000" dirty="0" err="1"/>
                  <a:t>wvg</a:t>
                </a:r>
                <a:r>
                  <a:rPr lang="en-US" sz="2000" dirty="0"/>
                  <a:t>, wavelength start and end same 1.55 µm </a:t>
                </a:r>
                <a:r>
                  <a:rPr lang="en-US" sz="2000" dirty="0">
                    <a:sym typeface="Wingdings" pitchFamily="2" charset="2"/>
                  </a:rPr>
                  <a:t> all ”Run”</a:t>
                </a:r>
                <a:endParaRPr lang="en-US" sz="2000" dirty="0"/>
              </a:p>
              <a:p>
                <a:pPr marL="0" indent="0" algn="just">
                  <a:buNone/>
                </a:pPr>
                <a:r>
                  <a:rPr lang="en-US" sz="2000" b="1" dirty="0"/>
                  <a:t>ALL: </a:t>
                </a:r>
                <a:r>
                  <a:rPr lang="en-US" sz="2000" dirty="0"/>
                  <a:t>Follow</a:t>
                </a:r>
                <a:r>
                  <a:rPr lang="en-US" sz="2000" b="1" dirty="0"/>
                  <a:t> </a:t>
                </a:r>
                <a:r>
                  <a:rPr lang="en-US" sz="2000" dirty="0"/>
                  <a:t>instructor, that will show how to 1) plot mode, 2) explore the results (neff …)</a:t>
                </a:r>
              </a:p>
              <a:p>
                <a:pPr algn="just"/>
                <a:endParaRPr lang="en-US" sz="2000" b="1" i="1" dirty="0"/>
              </a:p>
              <a:p>
                <a:pPr algn="just"/>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AA9E72FF-B948-6B7A-8909-97C6BE95D6FB}"/>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r="-552"/>
                </a:stretch>
              </a:blipFill>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D0F8CF3B-B920-DBFC-F825-0C87B51EADA7}"/>
                  </a:ext>
                </a:extLst>
              </p:cNvPr>
              <p:cNvSpPr txBox="1"/>
              <p:nvPr/>
            </p:nvSpPr>
            <p:spPr>
              <a:xfrm>
                <a:off x="543456" y="3774468"/>
                <a:ext cx="11199971" cy="2308324"/>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(neff, plot fields of different modes, comparison between different polarizations…)</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Para </a:t>
                </a:r>
                <a:r>
                  <a:rPr lang="en-US" sz="1200" dirty="0" err="1">
                    <a:latin typeface="Arial" panose="020B0604020202020204" pitchFamily="34" charset="0"/>
                    <a:cs typeface="Arial" panose="020B0604020202020204" pitchFamily="34" charset="0"/>
                  </a:rPr>
                  <a:t>obtener</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de batido </a:t>
                </a:r>
                <a14:m>
                  <m:oMath xmlns:m="http://schemas.openxmlformats.org/officeDocument/2006/math">
                    <m:sSub>
                      <m:sSubPr>
                        <m:ctrlPr>
                          <a:rPr lang="es-ES" sz="1200" b="0" i="1" smtClean="0">
                            <a:latin typeface="Cambria Math" panose="02040503050406030204" pitchFamily="18" charset="0"/>
                          </a:rPr>
                        </m:ctrlPr>
                      </m:sSubPr>
                      <m:e>
                        <m:r>
                          <a:rPr lang="es-ES" sz="1200" b="0" i="1" smtClean="0">
                            <a:latin typeface="Cambria Math" panose="02040503050406030204" pitchFamily="18" charset="0"/>
                          </a:rPr>
                          <m:t>𝐿</m:t>
                        </m:r>
                      </m:e>
                      <m:sub>
                        <m:r>
                          <a:rPr lang="es-ES" sz="1200" b="0" i="1" smtClean="0">
                            <a:latin typeface="Cambria Math" panose="02040503050406030204" pitchFamily="18" charset="0"/>
                          </a:rPr>
                          <m:t>𝜋</m:t>
                        </m:r>
                      </m:sub>
                    </m:sSub>
                  </m:oMath>
                </a14:m>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tiene</a:t>
                </a:r>
                <a:r>
                  <a:rPr lang="en-US" sz="1200" dirty="0">
                    <a:latin typeface="Arial" panose="020B0604020202020204" pitchFamily="34" charset="0"/>
                    <a:cs typeface="Arial" panose="020B0604020202020204" pitchFamily="34" charset="0"/>
                  </a:rPr>
                  <a:t> que usar la </a:t>
                </a:r>
                <a:r>
                  <a:rPr lang="en-US" sz="1200" dirty="0" err="1">
                    <a:latin typeface="Arial" panose="020B0604020202020204" pitchFamily="34" charset="0"/>
                    <a:cs typeface="Arial" panose="020B0604020202020204" pitchFamily="34" charset="0"/>
                  </a:rPr>
                  <a:t>diferencia</a:t>
                </a:r>
                <a:r>
                  <a:rPr lang="en-US" sz="1200" dirty="0">
                    <a:latin typeface="Arial" panose="020B0604020202020204" pitchFamily="34" charset="0"/>
                    <a:cs typeface="Arial" panose="020B0604020202020204" pitchFamily="34" charset="0"/>
                  </a:rPr>
                  <a:t> entre los </a:t>
                </a:r>
                <a:r>
                  <a:rPr lang="en-US" sz="1200" dirty="0" err="1">
                    <a:latin typeface="Arial" panose="020B0604020202020204" pitchFamily="34" charset="0"/>
                    <a:cs typeface="Arial" panose="020B0604020202020204" pitchFamily="34" charset="0"/>
                  </a:rPr>
                  <a:t>índices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efectivos</a:t>
                </a:r>
                <a:r>
                  <a:rPr lang="en-US" sz="1200" dirty="0">
                    <a:latin typeface="Arial" panose="020B0604020202020204" pitchFamily="34" charset="0"/>
                    <a:cs typeface="Arial" panose="020B0604020202020204" pitchFamily="34" charset="0"/>
                  </a:rPr>
                  <a:t> de los </a:t>
                </a:r>
                <a:r>
                  <a:rPr lang="en-US" sz="1200" dirty="0" err="1">
                    <a:latin typeface="Arial" panose="020B0604020202020204" pitchFamily="34" charset="0"/>
                    <a:cs typeface="Arial" panose="020B0604020202020204" pitchFamily="34" charset="0"/>
                  </a:rPr>
                  <a:t>supermodos</a:t>
                </a:r>
                <a:r>
                  <a:rPr lang="en-US" sz="1200" dirty="0">
                    <a:latin typeface="Arial" panose="020B0604020202020204" pitchFamily="34" charset="0"/>
                    <a:cs typeface="Arial" panose="020B0604020202020204" pitchFamily="34" charset="0"/>
                  </a:rPr>
                  <a:t> pares e </a:t>
                </a:r>
                <a:r>
                  <a:rPr lang="en-US" sz="1200" dirty="0" err="1">
                    <a:latin typeface="Arial" panose="020B0604020202020204" pitchFamily="34" charset="0"/>
                    <a:cs typeface="Arial" panose="020B0604020202020204" pitchFamily="34" charset="0"/>
                  </a:rPr>
                  <a:t>impares</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sección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cruzada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Esto</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hace</a:t>
                </a:r>
                <a:r>
                  <a:rPr lang="en-US" sz="1200" dirty="0">
                    <a:latin typeface="Arial" panose="020B0604020202020204" pitchFamily="34" charset="0"/>
                    <a:cs typeface="Arial" panose="020B0604020202020204" pitchFamily="34" charset="0"/>
                  </a:rPr>
                  <a:t> tanto para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modo TE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modo TM. La formula para </a:t>
                </a:r>
                <a:r>
                  <a:rPr lang="en-US" sz="1200" dirty="0" err="1">
                    <a:latin typeface="Arial" panose="020B0604020202020204" pitchFamily="34" charset="0"/>
                    <a:cs typeface="Arial" panose="020B0604020202020204" pitchFamily="34" charset="0"/>
                  </a:rPr>
                  <a:t>hallar</a:t>
                </a:r>
                <a:r>
                  <a:rPr lang="en-US" sz="1200" dirty="0">
                    <a:latin typeface="Arial" panose="020B0604020202020204" pitchFamily="34" charset="0"/>
                    <a:cs typeface="Arial" panose="020B0604020202020204" pitchFamily="34" charset="0"/>
                  </a:rPr>
                  <a:t> la longitude de batido es </a:t>
                </a:r>
                <a:r>
                  <a:rPr lang="en-US" sz="1200" dirty="0">
                    <a:latin typeface="Arial" panose="020B0604020202020204" pitchFamily="34" charset="0"/>
                    <a:cs typeface="Arial" panose="020B0604020202020204" pitchFamily="34" charset="0"/>
                    <a:sym typeface="Wingdings" panose="05000000000000000000" pitchFamily="2" charset="2"/>
                  </a:rPr>
                  <a:t> </a:t>
                </a:r>
                <a:r>
                  <a:rPr lang="en-US" sz="1200" dirty="0" err="1">
                    <a:latin typeface="Arial" panose="020B0604020202020204" pitchFamily="34" charset="0"/>
                    <a:cs typeface="Arial" panose="020B0604020202020204" pitchFamily="34" charset="0"/>
                  </a:rPr>
                  <a:t>L_pi</a:t>
                </a:r>
                <a:r>
                  <a:rPr lang="en-US" sz="1200" dirty="0">
                    <a:latin typeface="Arial" panose="020B0604020202020204" pitchFamily="34" charset="0"/>
                    <a:cs typeface="Arial" panose="020B0604020202020204" pitchFamily="34" charset="0"/>
                  </a:rPr>
                  <a:t> = 0.5*</a:t>
                </a:r>
                <a:r>
                  <a:rPr lang="en-US" sz="1200" dirty="0" err="1">
                    <a:latin typeface="Arial" panose="020B0604020202020204" pitchFamily="34" charset="0"/>
                    <a:cs typeface="Arial" panose="020B0604020202020204" pitchFamily="34" charset="0"/>
                  </a:rPr>
                  <a:t>lambda_c</a:t>
                </a:r>
                <a:r>
                  <a:rPr lang="en-US" sz="1200" dirty="0">
                    <a:latin typeface="Arial" panose="020B0604020202020204" pitchFamily="34" charset="0"/>
                    <a:cs typeface="Arial" panose="020B0604020202020204" pitchFamily="34" charset="0"/>
                  </a:rPr>
                  <a:t>/(</a:t>
                </a:r>
                <a:r>
                  <a:rPr lang="pt-BR" sz="1200" dirty="0" err="1">
                    <a:latin typeface="Arial" panose="020B0604020202020204" pitchFamily="34" charset="0"/>
                    <a:cs typeface="Arial" panose="020B0604020202020204" pitchFamily="34" charset="0"/>
                  </a:rPr>
                  <a:t>n_e</a:t>
                </a:r>
                <a:r>
                  <a:rPr lang="pt-BR" sz="1200" dirty="0">
                    <a:latin typeface="Arial" panose="020B0604020202020204" pitchFamily="34" charset="0"/>
                    <a:cs typeface="Arial" panose="020B0604020202020204" pitchFamily="34" charset="0"/>
                  </a:rPr>
                  <a:t> - </a:t>
                </a:r>
                <a:r>
                  <a:rPr lang="pt-BR" sz="1200" dirty="0" err="1">
                    <a:latin typeface="Arial" panose="020B0604020202020204" pitchFamily="34" charset="0"/>
                    <a:cs typeface="Arial" panose="020B0604020202020204" pitchFamily="34" charset="0"/>
                  </a:rPr>
                  <a:t>n_o</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mc:Choice>
        <mc:Fallback>
          <p:sp>
            <p:nvSpPr>
              <p:cNvPr id="2" name="CuadroTexto 1">
                <a:extLst>
                  <a:ext uri="{FF2B5EF4-FFF2-40B4-BE49-F238E27FC236}">
                    <a16:creationId xmlns:a16="http://schemas.microsoft.com/office/drawing/2014/main" id="{D0F8CF3B-B920-DBFC-F825-0C87B51EADA7}"/>
                  </a:ext>
                </a:extLst>
              </p:cNvPr>
              <p:cNvSpPr txBox="1">
                <a:spLocks noRot="1" noChangeAspect="1" noMove="1" noResize="1" noEditPoints="1" noAdjustHandles="1" noChangeArrowheads="1" noChangeShapeType="1" noTextEdit="1"/>
              </p:cNvSpPr>
              <p:nvPr/>
            </p:nvSpPr>
            <p:spPr>
              <a:xfrm>
                <a:off x="543456" y="3774468"/>
                <a:ext cx="11199971" cy="2308324"/>
              </a:xfrm>
              <a:prstGeom prst="rect">
                <a:avLst/>
              </a:prstGeom>
              <a:blipFill>
                <a:blip r:embed="rId6"/>
                <a:stretch>
                  <a:fillRect/>
                </a:stretch>
              </a:blipFill>
              <a:ln w="28575">
                <a:solidFill>
                  <a:srgbClr val="E0700D"/>
                </a:solidFill>
              </a:ln>
            </p:spPr>
            <p:txBody>
              <a:bodyPr/>
              <a:lstStyle/>
              <a:p>
                <a:r>
                  <a:rPr lang="es-ES">
                    <a:noFill/>
                  </a:rPr>
                  <a:t> </a:t>
                </a:r>
              </a:p>
            </p:txBody>
          </p:sp>
        </mc:Fallback>
      </mc:AlternateContent>
      <p:pic>
        <p:nvPicPr>
          <p:cNvPr id="6" name="Imagen 5">
            <a:extLst>
              <a:ext uri="{FF2B5EF4-FFF2-40B4-BE49-F238E27FC236}">
                <a16:creationId xmlns:a16="http://schemas.microsoft.com/office/drawing/2014/main" id="{11DE5FBC-CB21-4435-AB97-167E5CDC3BAB}"/>
              </a:ext>
            </a:extLst>
          </p:cNvPr>
          <p:cNvPicPr>
            <a:picLocks noChangeAspect="1"/>
          </p:cNvPicPr>
          <p:nvPr/>
        </p:nvPicPr>
        <p:blipFill>
          <a:blip r:embed="rId7"/>
          <a:stretch>
            <a:fillRect/>
          </a:stretch>
        </p:blipFill>
        <p:spPr>
          <a:xfrm>
            <a:off x="3886200" y="4648200"/>
            <a:ext cx="3876144" cy="1309870"/>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CBD5F6C9-C94E-4972-A435-0A8F21321D59}"/>
              </a:ext>
            </a:extLst>
          </p:cNvPr>
          <p:cNvSpPr>
            <a:spLocks noGrp="1"/>
          </p:cNvSpPr>
          <p:nvPr>
            <p:ph type="body" idx="1"/>
          </p:nvPr>
        </p:nvSpPr>
        <p:spPr>
          <a:xfrm>
            <a:off x="601133" y="1447800"/>
            <a:ext cx="10972800" cy="2154436"/>
          </a:xfrm>
        </p:spPr>
        <p:txBody>
          <a:bodyPr/>
          <a:lstStyle/>
          <a:p>
            <a:r>
              <a:rPr lang="es-ES" sz="1400" dirty="0"/>
              <a:t>Índices efectivos para los 6 primeros modos:</a:t>
            </a:r>
          </a:p>
          <a:p>
            <a:r>
              <a:rPr lang="es-ES" sz="1400" dirty="0"/>
              <a:t>[1.60942484+1.02849974e-04j 1.60116589+9.83178135e-05j</a:t>
            </a:r>
          </a:p>
          <a:p>
            <a:r>
              <a:rPr lang="es-ES" sz="1400" dirty="0"/>
              <a:t> 1.53540293+1.77367472e-04j 1.52057329+1.77190584e-04j</a:t>
            </a:r>
          </a:p>
          <a:p>
            <a:r>
              <a:rPr lang="es-ES" sz="1400" dirty="0"/>
              <a:t> 1.45637592+1.78980401e-04j 1.44042642+2.10123701e-04j]</a:t>
            </a:r>
          </a:p>
          <a:p>
            <a:r>
              <a:rPr lang="es-ES" sz="1400" dirty="0"/>
              <a:t>Si nos fijamos en la parte real, podemos observar que se propagan los 5 primeros modos menos el último, ya que este ve un índice efectivo menor al del </a:t>
            </a:r>
            <a:r>
              <a:rPr lang="es-ES" sz="1400" dirty="0" err="1"/>
              <a:t>cladding</a:t>
            </a:r>
            <a:r>
              <a:rPr lang="es-ES" sz="1400" dirty="0"/>
              <a:t> (1.44).</a:t>
            </a:r>
          </a:p>
          <a:p>
            <a:endParaRPr lang="es-ES" sz="1400" dirty="0"/>
          </a:p>
          <a:p>
            <a:r>
              <a:rPr lang="es-ES" sz="1400" dirty="0"/>
              <a:t>Análisis del porcentaje de TE de cada modo:</a:t>
            </a:r>
          </a:p>
          <a:p>
            <a:r>
              <a:rPr lang="en-US" sz="1400" dirty="0"/>
              <a:t>array([0.994898  , 0.99527537, 0.00888064, 0.01130183, 0.97648502, 0.35301659])</a:t>
            </a:r>
          </a:p>
          <a:p>
            <a:r>
              <a:rPr lang="es-ES" sz="1400" dirty="0"/>
              <a:t>Podemos observar que los modos que serán más TE son el 1,2 y 5, mientras que los otros tres tendrán mayor componente TM.</a:t>
            </a:r>
          </a:p>
        </p:txBody>
      </p:sp>
      <p:sp>
        <p:nvSpPr>
          <p:cNvPr id="4" name="Marcador de pie de página 3">
            <a:extLst>
              <a:ext uri="{FF2B5EF4-FFF2-40B4-BE49-F238E27FC236}">
                <a16:creationId xmlns:a16="http://schemas.microsoft.com/office/drawing/2014/main" id="{E0CD65A1-9D4A-4D1C-AFBB-431764CDB3F0}"/>
              </a:ext>
            </a:extLst>
          </p:cNvPr>
          <p:cNvSpPr>
            <a:spLocks noGrp="1"/>
          </p:cNvSpPr>
          <p:nvPr>
            <p:ph type="ftr" sz="quarter" idx="5"/>
          </p:nvPr>
        </p:nvSpPr>
        <p:spPr/>
        <p:txBody>
          <a:bodyPr/>
          <a:lstStyle/>
          <a:p>
            <a:pPr marL="12700">
              <a:spcBef>
                <a:spcPts val="15"/>
              </a:spcBef>
            </a:pPr>
            <a:r>
              <a:rPr lang="es-ES" spc="-5" dirty="0"/>
              <a:t>LAB 0.2. COUPLERS</a:t>
            </a:r>
          </a:p>
        </p:txBody>
      </p:sp>
      <p:sp>
        <p:nvSpPr>
          <p:cNvPr id="5" name="Marcador de número de diapositiva 4">
            <a:extLst>
              <a:ext uri="{FF2B5EF4-FFF2-40B4-BE49-F238E27FC236}">
                <a16:creationId xmlns:a16="http://schemas.microsoft.com/office/drawing/2014/main" id="{8FE1C107-890A-49C8-B1C9-17571AEBDB76}"/>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19" name="object 16">
            <a:extLst>
              <a:ext uri="{FF2B5EF4-FFF2-40B4-BE49-F238E27FC236}">
                <a16:creationId xmlns:a16="http://schemas.microsoft.com/office/drawing/2014/main" id="{8AFCDEA1-211D-4C75-AC9E-88A4F8E1B393}"/>
              </a:ext>
            </a:extLst>
          </p:cNvPr>
          <p:cNvSpPr txBox="1">
            <a:spLocks noGrp="1"/>
          </p:cNvSpPr>
          <p:nvPr>
            <p:ph type="title"/>
          </p:nvPr>
        </p:nvSpPr>
        <p:spPr>
          <a:xfrm>
            <a:off x="590550" y="206375"/>
            <a:ext cx="10991850" cy="30797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Directional coupler cross-section in </a:t>
            </a:r>
            <a:r>
              <a:rPr lang="en-US" sz="2500" dirty="0" err="1"/>
              <a:t>GDSFactory</a:t>
            </a:r>
            <a:br>
              <a:rPr lang="es-ES" sz="2500" spc="-5" dirty="0">
                <a:latin typeface="+mj-lt"/>
                <a:cs typeface="Lucida Sans"/>
              </a:rPr>
            </a:br>
            <a:endParaRPr sz="2500" b="0" dirty="0">
              <a:latin typeface="+mj-lt"/>
              <a:cs typeface="Lucida Sans"/>
            </a:endParaRPr>
          </a:p>
        </p:txBody>
      </p:sp>
    </p:spTree>
    <p:extLst>
      <p:ext uri="{BB962C8B-B14F-4D97-AF65-F5344CB8AC3E}">
        <p14:creationId xmlns:p14="http://schemas.microsoft.com/office/powerpoint/2010/main" val="25762723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E0CD65A1-9D4A-4D1C-AFBB-431764CDB3F0}"/>
              </a:ext>
            </a:extLst>
          </p:cNvPr>
          <p:cNvSpPr>
            <a:spLocks noGrp="1"/>
          </p:cNvSpPr>
          <p:nvPr>
            <p:ph type="ftr" sz="quarter" idx="5"/>
          </p:nvPr>
        </p:nvSpPr>
        <p:spPr/>
        <p:txBody>
          <a:bodyPr/>
          <a:lstStyle/>
          <a:p>
            <a:pPr marL="12700">
              <a:spcBef>
                <a:spcPts val="15"/>
              </a:spcBef>
            </a:pPr>
            <a:r>
              <a:rPr lang="es-ES" spc="-5"/>
              <a:t>LAB 0.2. COUPLERS</a:t>
            </a:r>
            <a:endParaRPr lang="es-ES" spc="-5" dirty="0"/>
          </a:p>
        </p:txBody>
      </p:sp>
      <p:sp>
        <p:nvSpPr>
          <p:cNvPr id="5" name="Marcador de número de diapositiva 4">
            <a:extLst>
              <a:ext uri="{FF2B5EF4-FFF2-40B4-BE49-F238E27FC236}">
                <a16:creationId xmlns:a16="http://schemas.microsoft.com/office/drawing/2014/main" id="{8FE1C107-890A-49C8-B1C9-17571AEBDB76}"/>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19" name="object 16">
            <a:extLst>
              <a:ext uri="{FF2B5EF4-FFF2-40B4-BE49-F238E27FC236}">
                <a16:creationId xmlns:a16="http://schemas.microsoft.com/office/drawing/2014/main" id="{8AFCDEA1-211D-4C75-AC9E-88A4F8E1B393}"/>
              </a:ext>
            </a:extLst>
          </p:cNvPr>
          <p:cNvSpPr txBox="1">
            <a:spLocks noGrp="1"/>
          </p:cNvSpPr>
          <p:nvPr>
            <p:ph type="title"/>
          </p:nvPr>
        </p:nvSpPr>
        <p:spPr>
          <a:xfrm>
            <a:off x="590550" y="206375"/>
            <a:ext cx="10991850" cy="30797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Directional coupler cross-section in </a:t>
            </a:r>
            <a:r>
              <a:rPr lang="en-US" sz="2500" dirty="0" err="1"/>
              <a:t>GDSFactory</a:t>
            </a:r>
            <a:br>
              <a:rPr lang="es-ES" sz="2500" spc="-5" dirty="0">
                <a:latin typeface="+mj-lt"/>
                <a:cs typeface="Lucida Sans"/>
              </a:rPr>
            </a:br>
            <a:endParaRPr sz="2500" b="0" dirty="0">
              <a:latin typeface="+mj-lt"/>
              <a:cs typeface="Lucida Sans"/>
            </a:endParaRPr>
          </a:p>
        </p:txBody>
      </p:sp>
      <p:pic>
        <p:nvPicPr>
          <p:cNvPr id="20" name="Imagen 19">
            <a:extLst>
              <a:ext uri="{FF2B5EF4-FFF2-40B4-BE49-F238E27FC236}">
                <a16:creationId xmlns:a16="http://schemas.microsoft.com/office/drawing/2014/main" id="{DD61F9A8-8DE6-4E15-99D3-7C3785E6868A}"/>
              </a:ext>
            </a:extLst>
          </p:cNvPr>
          <p:cNvPicPr>
            <a:picLocks noChangeAspect="1"/>
          </p:cNvPicPr>
          <p:nvPr/>
        </p:nvPicPr>
        <p:blipFill>
          <a:blip r:embed="rId2"/>
          <a:stretch>
            <a:fillRect/>
          </a:stretch>
        </p:blipFill>
        <p:spPr>
          <a:xfrm>
            <a:off x="780508" y="2030250"/>
            <a:ext cx="2446794" cy="1672764"/>
          </a:xfrm>
          <a:prstGeom prst="rect">
            <a:avLst/>
          </a:prstGeom>
        </p:spPr>
      </p:pic>
      <p:sp>
        <p:nvSpPr>
          <p:cNvPr id="21" name="CuadroTexto 20">
            <a:extLst>
              <a:ext uri="{FF2B5EF4-FFF2-40B4-BE49-F238E27FC236}">
                <a16:creationId xmlns:a16="http://schemas.microsoft.com/office/drawing/2014/main" id="{A180171A-F02F-45C9-BAE2-9B9BAA96ED8E}"/>
              </a:ext>
            </a:extLst>
          </p:cNvPr>
          <p:cNvSpPr txBox="1"/>
          <p:nvPr/>
        </p:nvSpPr>
        <p:spPr>
          <a:xfrm>
            <a:off x="423333" y="1337383"/>
            <a:ext cx="3566583" cy="461665"/>
          </a:xfrm>
          <a:prstGeom prst="rect">
            <a:avLst/>
          </a:prstGeom>
          <a:noFill/>
        </p:spPr>
        <p:txBody>
          <a:bodyPr wrap="square">
            <a:spAutoFit/>
          </a:bodyPr>
          <a:lstStyle/>
          <a:p>
            <a:r>
              <a:rPr lang="es-ES" sz="1200" dirty="0"/>
              <a:t>Sección transversal del primer modo, correspondiente </a:t>
            </a:r>
          </a:p>
          <a:p>
            <a:r>
              <a:rPr lang="es-ES" sz="1200" dirty="0"/>
              <a:t>al </a:t>
            </a:r>
            <a:r>
              <a:rPr lang="es-ES" sz="1200" dirty="0" err="1"/>
              <a:t>supermodo</a:t>
            </a:r>
            <a:r>
              <a:rPr lang="es-ES" sz="1200" dirty="0"/>
              <a:t> par (simétrico):</a:t>
            </a:r>
          </a:p>
        </p:txBody>
      </p:sp>
      <p:sp>
        <p:nvSpPr>
          <p:cNvPr id="22" name="CuadroTexto 21">
            <a:extLst>
              <a:ext uri="{FF2B5EF4-FFF2-40B4-BE49-F238E27FC236}">
                <a16:creationId xmlns:a16="http://schemas.microsoft.com/office/drawing/2014/main" id="{7FE54070-91AB-4845-9A14-1C9758B25FE9}"/>
              </a:ext>
            </a:extLst>
          </p:cNvPr>
          <p:cNvSpPr txBox="1"/>
          <p:nvPr/>
        </p:nvSpPr>
        <p:spPr>
          <a:xfrm>
            <a:off x="4267200" y="1337383"/>
            <a:ext cx="3810000" cy="646331"/>
          </a:xfrm>
          <a:prstGeom prst="rect">
            <a:avLst/>
          </a:prstGeom>
          <a:noFill/>
        </p:spPr>
        <p:txBody>
          <a:bodyPr wrap="square">
            <a:spAutoFit/>
          </a:bodyPr>
          <a:lstStyle/>
          <a:p>
            <a:r>
              <a:rPr lang="es-ES" sz="1200" dirty="0"/>
              <a:t>Sección transversal del segundo modo, correspondiente </a:t>
            </a:r>
          </a:p>
          <a:p>
            <a:r>
              <a:rPr lang="es-ES" sz="1200" dirty="0"/>
              <a:t>al </a:t>
            </a:r>
            <a:r>
              <a:rPr lang="es-ES" sz="1200" dirty="0" err="1"/>
              <a:t>supermodo</a:t>
            </a:r>
            <a:r>
              <a:rPr lang="es-ES" sz="1200" dirty="0"/>
              <a:t> impar (antisimétrico), donde el campo eléctrico oscila en contrafase:</a:t>
            </a:r>
          </a:p>
        </p:txBody>
      </p:sp>
      <p:pic>
        <p:nvPicPr>
          <p:cNvPr id="23" name="Imagen 22">
            <a:extLst>
              <a:ext uri="{FF2B5EF4-FFF2-40B4-BE49-F238E27FC236}">
                <a16:creationId xmlns:a16="http://schemas.microsoft.com/office/drawing/2014/main" id="{7175DEC3-BAB8-459C-A918-FF0F2F3306A4}"/>
              </a:ext>
            </a:extLst>
          </p:cNvPr>
          <p:cNvPicPr>
            <a:picLocks noChangeAspect="1"/>
          </p:cNvPicPr>
          <p:nvPr/>
        </p:nvPicPr>
        <p:blipFill>
          <a:blip r:embed="rId3"/>
          <a:stretch>
            <a:fillRect/>
          </a:stretch>
        </p:blipFill>
        <p:spPr>
          <a:xfrm>
            <a:off x="4572000" y="2058530"/>
            <a:ext cx="2766144" cy="1852031"/>
          </a:xfrm>
          <a:prstGeom prst="rect">
            <a:avLst/>
          </a:prstGeom>
        </p:spPr>
      </p:pic>
      <p:pic>
        <p:nvPicPr>
          <p:cNvPr id="24" name="Imagen 23">
            <a:extLst>
              <a:ext uri="{FF2B5EF4-FFF2-40B4-BE49-F238E27FC236}">
                <a16:creationId xmlns:a16="http://schemas.microsoft.com/office/drawing/2014/main" id="{95AA9E3F-FF5B-4AA4-9AB8-B35AB95052FC}"/>
              </a:ext>
            </a:extLst>
          </p:cNvPr>
          <p:cNvPicPr>
            <a:picLocks noChangeAspect="1"/>
          </p:cNvPicPr>
          <p:nvPr/>
        </p:nvPicPr>
        <p:blipFill>
          <a:blip r:embed="rId4"/>
          <a:stretch>
            <a:fillRect/>
          </a:stretch>
        </p:blipFill>
        <p:spPr>
          <a:xfrm>
            <a:off x="8387951" y="4017045"/>
            <a:ext cx="2925300" cy="1955225"/>
          </a:xfrm>
          <a:prstGeom prst="rect">
            <a:avLst/>
          </a:prstGeom>
        </p:spPr>
      </p:pic>
      <p:sp>
        <p:nvSpPr>
          <p:cNvPr id="25" name="CuadroTexto 24">
            <a:extLst>
              <a:ext uri="{FF2B5EF4-FFF2-40B4-BE49-F238E27FC236}">
                <a16:creationId xmlns:a16="http://schemas.microsoft.com/office/drawing/2014/main" id="{3D565E00-F368-4503-B3C8-4754391FF88F}"/>
              </a:ext>
            </a:extLst>
          </p:cNvPr>
          <p:cNvSpPr txBox="1"/>
          <p:nvPr/>
        </p:nvSpPr>
        <p:spPr>
          <a:xfrm>
            <a:off x="8077200" y="1337383"/>
            <a:ext cx="3810000" cy="461665"/>
          </a:xfrm>
          <a:prstGeom prst="rect">
            <a:avLst/>
          </a:prstGeom>
          <a:noFill/>
        </p:spPr>
        <p:txBody>
          <a:bodyPr wrap="square">
            <a:spAutoFit/>
          </a:bodyPr>
          <a:lstStyle/>
          <a:p>
            <a:r>
              <a:rPr lang="es-ES" sz="1200" dirty="0"/>
              <a:t>Sección transversal del tercer modo. Podemos observar que tiene </a:t>
            </a:r>
            <a:r>
              <a:rPr lang="es-ES" sz="1200" dirty="0" err="1"/>
              <a:t>comoponente</a:t>
            </a:r>
            <a:r>
              <a:rPr lang="es-ES" sz="1200" dirty="0"/>
              <a:t> en el modo TM.</a:t>
            </a:r>
          </a:p>
        </p:txBody>
      </p:sp>
      <p:pic>
        <p:nvPicPr>
          <p:cNvPr id="26" name="Imagen 25">
            <a:extLst>
              <a:ext uri="{FF2B5EF4-FFF2-40B4-BE49-F238E27FC236}">
                <a16:creationId xmlns:a16="http://schemas.microsoft.com/office/drawing/2014/main" id="{811EB3F4-7E8D-4382-BF5B-331FEE8A5402}"/>
              </a:ext>
            </a:extLst>
          </p:cNvPr>
          <p:cNvPicPr>
            <a:picLocks noChangeAspect="1"/>
          </p:cNvPicPr>
          <p:nvPr/>
        </p:nvPicPr>
        <p:blipFill>
          <a:blip r:embed="rId5"/>
          <a:stretch>
            <a:fillRect/>
          </a:stretch>
        </p:blipFill>
        <p:spPr>
          <a:xfrm>
            <a:off x="780508" y="4012332"/>
            <a:ext cx="2562249" cy="1746988"/>
          </a:xfrm>
          <a:prstGeom prst="rect">
            <a:avLst/>
          </a:prstGeom>
        </p:spPr>
      </p:pic>
      <p:sp>
        <p:nvSpPr>
          <p:cNvPr id="28" name="CuadroTexto 27">
            <a:extLst>
              <a:ext uri="{FF2B5EF4-FFF2-40B4-BE49-F238E27FC236}">
                <a16:creationId xmlns:a16="http://schemas.microsoft.com/office/drawing/2014/main" id="{B92B350C-C75E-436C-AE0E-BFE2A5580519}"/>
              </a:ext>
            </a:extLst>
          </p:cNvPr>
          <p:cNvSpPr txBox="1"/>
          <p:nvPr/>
        </p:nvSpPr>
        <p:spPr>
          <a:xfrm>
            <a:off x="457200" y="800903"/>
            <a:ext cx="10991850" cy="276999"/>
          </a:xfrm>
          <a:prstGeom prst="rect">
            <a:avLst/>
          </a:prstGeom>
          <a:noFill/>
        </p:spPr>
        <p:txBody>
          <a:bodyPr wrap="square">
            <a:spAutoFit/>
          </a:bodyPr>
          <a:lstStyle/>
          <a:p>
            <a:r>
              <a:rPr lang="es-ES" sz="1200" dirty="0"/>
              <a:t>A continuación se va a mostrar la sección transversal de los modos. En la parte de arriba se muestra el análisis del modo TE y en la parte de abajo el modo TM. </a:t>
            </a:r>
          </a:p>
        </p:txBody>
      </p:sp>
      <p:pic>
        <p:nvPicPr>
          <p:cNvPr id="3" name="Imagen 2">
            <a:extLst>
              <a:ext uri="{FF2B5EF4-FFF2-40B4-BE49-F238E27FC236}">
                <a16:creationId xmlns:a16="http://schemas.microsoft.com/office/drawing/2014/main" id="{94B7BFF1-FFA2-4857-9D5B-640E5E49B4B2}"/>
              </a:ext>
            </a:extLst>
          </p:cNvPr>
          <p:cNvPicPr>
            <a:picLocks noChangeAspect="1"/>
          </p:cNvPicPr>
          <p:nvPr/>
        </p:nvPicPr>
        <p:blipFill>
          <a:blip r:embed="rId6"/>
          <a:stretch>
            <a:fillRect/>
          </a:stretch>
        </p:blipFill>
        <p:spPr>
          <a:xfrm>
            <a:off x="4484328" y="4017045"/>
            <a:ext cx="2766144" cy="1881171"/>
          </a:xfrm>
          <a:prstGeom prst="rect">
            <a:avLst/>
          </a:prstGeom>
        </p:spPr>
      </p:pic>
      <p:pic>
        <p:nvPicPr>
          <p:cNvPr id="7" name="Imagen 6">
            <a:extLst>
              <a:ext uri="{FF2B5EF4-FFF2-40B4-BE49-F238E27FC236}">
                <a16:creationId xmlns:a16="http://schemas.microsoft.com/office/drawing/2014/main" id="{C94E018B-2499-44F0-B788-3F424A53201C}"/>
              </a:ext>
            </a:extLst>
          </p:cNvPr>
          <p:cNvPicPr>
            <a:picLocks noChangeAspect="1"/>
          </p:cNvPicPr>
          <p:nvPr/>
        </p:nvPicPr>
        <p:blipFill>
          <a:blip r:embed="rId7"/>
          <a:stretch>
            <a:fillRect/>
          </a:stretch>
        </p:blipFill>
        <p:spPr>
          <a:xfrm>
            <a:off x="8547955" y="2058529"/>
            <a:ext cx="2723295" cy="1852031"/>
          </a:xfrm>
          <a:prstGeom prst="rect">
            <a:avLst/>
          </a:prstGeom>
        </p:spPr>
      </p:pic>
    </p:spTree>
    <p:extLst>
      <p:ext uri="{BB962C8B-B14F-4D97-AF65-F5344CB8AC3E}">
        <p14:creationId xmlns:p14="http://schemas.microsoft.com/office/powerpoint/2010/main" val="29438141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E0CD65A1-9D4A-4D1C-AFBB-431764CDB3F0}"/>
              </a:ext>
            </a:extLst>
          </p:cNvPr>
          <p:cNvSpPr>
            <a:spLocks noGrp="1"/>
          </p:cNvSpPr>
          <p:nvPr>
            <p:ph type="ftr" sz="quarter" idx="5"/>
          </p:nvPr>
        </p:nvSpPr>
        <p:spPr/>
        <p:txBody>
          <a:bodyPr/>
          <a:lstStyle/>
          <a:p>
            <a:pPr marL="12700">
              <a:spcBef>
                <a:spcPts val="15"/>
              </a:spcBef>
            </a:pPr>
            <a:r>
              <a:rPr lang="es-ES" spc="-5"/>
              <a:t>LAB 0.2. COUPLERS</a:t>
            </a:r>
            <a:endParaRPr lang="es-ES" spc="-5" dirty="0"/>
          </a:p>
        </p:txBody>
      </p:sp>
      <p:sp>
        <p:nvSpPr>
          <p:cNvPr id="5" name="Marcador de número de diapositiva 4">
            <a:extLst>
              <a:ext uri="{FF2B5EF4-FFF2-40B4-BE49-F238E27FC236}">
                <a16:creationId xmlns:a16="http://schemas.microsoft.com/office/drawing/2014/main" id="{8FE1C107-890A-49C8-B1C9-17571AEBDB76}"/>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9" name="CuadroTexto 8">
            <a:extLst>
              <a:ext uri="{FF2B5EF4-FFF2-40B4-BE49-F238E27FC236}">
                <a16:creationId xmlns:a16="http://schemas.microsoft.com/office/drawing/2014/main" id="{A4E1AF72-69FD-4F13-A583-23A04ADA921C}"/>
              </a:ext>
            </a:extLst>
          </p:cNvPr>
          <p:cNvSpPr txBox="1"/>
          <p:nvPr/>
        </p:nvSpPr>
        <p:spPr>
          <a:xfrm>
            <a:off x="457200" y="1066800"/>
            <a:ext cx="3566583" cy="830997"/>
          </a:xfrm>
          <a:prstGeom prst="rect">
            <a:avLst/>
          </a:prstGeom>
          <a:noFill/>
        </p:spPr>
        <p:txBody>
          <a:bodyPr wrap="square">
            <a:spAutoFit/>
          </a:bodyPr>
          <a:lstStyle/>
          <a:p>
            <a:r>
              <a:rPr lang="es-ES" sz="1200" dirty="0"/>
              <a:t>Sección transversal del cuarto modo (TM). Se puede observar que hay algo de confinamiento dentro del núcleo pero hay mucha componente de la luz que viaja por la cubierta.</a:t>
            </a:r>
          </a:p>
        </p:txBody>
      </p:sp>
      <p:sp>
        <p:nvSpPr>
          <p:cNvPr id="10" name="CuadroTexto 9">
            <a:extLst>
              <a:ext uri="{FF2B5EF4-FFF2-40B4-BE49-F238E27FC236}">
                <a16:creationId xmlns:a16="http://schemas.microsoft.com/office/drawing/2014/main" id="{7AA8074F-CEBA-4A99-A526-1BABDCAAD773}"/>
              </a:ext>
            </a:extLst>
          </p:cNvPr>
          <p:cNvSpPr txBox="1"/>
          <p:nvPr/>
        </p:nvSpPr>
        <p:spPr>
          <a:xfrm>
            <a:off x="4343400" y="1050571"/>
            <a:ext cx="3810000" cy="276999"/>
          </a:xfrm>
          <a:prstGeom prst="rect">
            <a:avLst/>
          </a:prstGeom>
          <a:noFill/>
        </p:spPr>
        <p:txBody>
          <a:bodyPr wrap="square">
            <a:spAutoFit/>
          </a:bodyPr>
          <a:lstStyle/>
          <a:p>
            <a:r>
              <a:rPr lang="es-ES" sz="1200" dirty="0"/>
              <a:t>Sección transversal del quinto modo:</a:t>
            </a:r>
          </a:p>
        </p:txBody>
      </p:sp>
      <p:sp>
        <p:nvSpPr>
          <p:cNvPr id="18" name="CuadroTexto 17">
            <a:extLst>
              <a:ext uri="{FF2B5EF4-FFF2-40B4-BE49-F238E27FC236}">
                <a16:creationId xmlns:a16="http://schemas.microsoft.com/office/drawing/2014/main" id="{760E0D21-B3A1-4B49-856F-A20EC0CC9FDA}"/>
              </a:ext>
            </a:extLst>
          </p:cNvPr>
          <p:cNvSpPr txBox="1"/>
          <p:nvPr/>
        </p:nvSpPr>
        <p:spPr>
          <a:xfrm>
            <a:off x="7924800" y="989548"/>
            <a:ext cx="3810000" cy="646331"/>
          </a:xfrm>
          <a:prstGeom prst="rect">
            <a:avLst/>
          </a:prstGeom>
          <a:noFill/>
        </p:spPr>
        <p:txBody>
          <a:bodyPr wrap="square">
            <a:spAutoFit/>
          </a:bodyPr>
          <a:lstStyle/>
          <a:p>
            <a:r>
              <a:rPr lang="es-ES" sz="1200" dirty="0"/>
              <a:t>Sección transversal del sexto modo. Podemos observar que, en este caso, como se había predicho anteriormente el modo estará en corte y no se propagará por la guía. </a:t>
            </a:r>
          </a:p>
        </p:txBody>
      </p:sp>
      <p:sp>
        <p:nvSpPr>
          <p:cNvPr id="19" name="object 16">
            <a:extLst>
              <a:ext uri="{FF2B5EF4-FFF2-40B4-BE49-F238E27FC236}">
                <a16:creationId xmlns:a16="http://schemas.microsoft.com/office/drawing/2014/main" id="{8AFCDEA1-211D-4C75-AC9E-88A4F8E1B393}"/>
              </a:ext>
            </a:extLst>
          </p:cNvPr>
          <p:cNvSpPr txBox="1">
            <a:spLocks noGrp="1"/>
          </p:cNvSpPr>
          <p:nvPr>
            <p:ph type="title"/>
          </p:nvPr>
        </p:nvSpPr>
        <p:spPr>
          <a:xfrm>
            <a:off x="590550" y="206375"/>
            <a:ext cx="10991850" cy="30797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Directional coupler cross-section in </a:t>
            </a:r>
            <a:r>
              <a:rPr lang="en-US" sz="2500" dirty="0" err="1"/>
              <a:t>GDSFactory</a:t>
            </a:r>
            <a:br>
              <a:rPr lang="es-ES" sz="2500" spc="-5" dirty="0">
                <a:latin typeface="+mj-lt"/>
                <a:cs typeface="Lucida Sans"/>
              </a:rPr>
            </a:br>
            <a:endParaRPr sz="2500" b="0" dirty="0">
              <a:latin typeface="+mj-lt"/>
              <a:cs typeface="Lucida Sans"/>
            </a:endParaRPr>
          </a:p>
        </p:txBody>
      </p:sp>
      <p:pic>
        <p:nvPicPr>
          <p:cNvPr id="6" name="Imagen 5">
            <a:extLst>
              <a:ext uri="{FF2B5EF4-FFF2-40B4-BE49-F238E27FC236}">
                <a16:creationId xmlns:a16="http://schemas.microsoft.com/office/drawing/2014/main" id="{53D5037E-4F8A-49CA-8696-7B930F3AA0EB}"/>
              </a:ext>
            </a:extLst>
          </p:cNvPr>
          <p:cNvPicPr>
            <a:picLocks noChangeAspect="1"/>
          </p:cNvPicPr>
          <p:nvPr/>
        </p:nvPicPr>
        <p:blipFill>
          <a:blip r:embed="rId2"/>
          <a:stretch>
            <a:fillRect/>
          </a:stretch>
        </p:blipFill>
        <p:spPr>
          <a:xfrm>
            <a:off x="835340" y="3723663"/>
            <a:ext cx="2744347" cy="1842160"/>
          </a:xfrm>
          <a:prstGeom prst="rect">
            <a:avLst/>
          </a:prstGeom>
        </p:spPr>
      </p:pic>
      <p:pic>
        <p:nvPicPr>
          <p:cNvPr id="14" name="Imagen 13">
            <a:extLst>
              <a:ext uri="{FF2B5EF4-FFF2-40B4-BE49-F238E27FC236}">
                <a16:creationId xmlns:a16="http://schemas.microsoft.com/office/drawing/2014/main" id="{3D266487-5B72-4CC0-9284-5C2D4C498634}"/>
              </a:ext>
            </a:extLst>
          </p:cNvPr>
          <p:cNvPicPr>
            <a:picLocks noChangeAspect="1"/>
          </p:cNvPicPr>
          <p:nvPr/>
        </p:nvPicPr>
        <p:blipFill>
          <a:blip r:embed="rId3"/>
          <a:stretch>
            <a:fillRect/>
          </a:stretch>
        </p:blipFill>
        <p:spPr>
          <a:xfrm>
            <a:off x="4594390" y="2006206"/>
            <a:ext cx="2751401" cy="1842160"/>
          </a:xfrm>
          <a:prstGeom prst="rect">
            <a:avLst/>
          </a:prstGeom>
        </p:spPr>
      </p:pic>
      <p:pic>
        <p:nvPicPr>
          <p:cNvPr id="17" name="Imagen 16">
            <a:extLst>
              <a:ext uri="{FF2B5EF4-FFF2-40B4-BE49-F238E27FC236}">
                <a16:creationId xmlns:a16="http://schemas.microsoft.com/office/drawing/2014/main" id="{8EA11661-8D45-408C-8C2B-63285CA9D9B3}"/>
              </a:ext>
            </a:extLst>
          </p:cNvPr>
          <p:cNvPicPr>
            <a:picLocks noChangeAspect="1"/>
          </p:cNvPicPr>
          <p:nvPr/>
        </p:nvPicPr>
        <p:blipFill>
          <a:blip r:embed="rId4"/>
          <a:stretch>
            <a:fillRect/>
          </a:stretch>
        </p:blipFill>
        <p:spPr>
          <a:xfrm>
            <a:off x="8465183" y="3723663"/>
            <a:ext cx="2751400" cy="1871145"/>
          </a:xfrm>
          <a:prstGeom prst="rect">
            <a:avLst/>
          </a:prstGeom>
        </p:spPr>
      </p:pic>
      <p:pic>
        <p:nvPicPr>
          <p:cNvPr id="3" name="Imagen 2">
            <a:extLst>
              <a:ext uri="{FF2B5EF4-FFF2-40B4-BE49-F238E27FC236}">
                <a16:creationId xmlns:a16="http://schemas.microsoft.com/office/drawing/2014/main" id="{1C031CBC-D966-4D11-8BB4-F00474D67910}"/>
              </a:ext>
            </a:extLst>
          </p:cNvPr>
          <p:cNvPicPr>
            <a:picLocks noChangeAspect="1"/>
          </p:cNvPicPr>
          <p:nvPr/>
        </p:nvPicPr>
        <p:blipFill>
          <a:blip r:embed="rId5"/>
          <a:stretch>
            <a:fillRect/>
          </a:stretch>
        </p:blipFill>
        <p:spPr>
          <a:xfrm>
            <a:off x="820744" y="2006205"/>
            <a:ext cx="2708780" cy="1842160"/>
          </a:xfrm>
          <a:prstGeom prst="rect">
            <a:avLst/>
          </a:prstGeom>
        </p:spPr>
      </p:pic>
      <p:pic>
        <p:nvPicPr>
          <p:cNvPr id="8" name="Imagen 7">
            <a:extLst>
              <a:ext uri="{FF2B5EF4-FFF2-40B4-BE49-F238E27FC236}">
                <a16:creationId xmlns:a16="http://schemas.microsoft.com/office/drawing/2014/main" id="{A23E11D5-9F27-4A6B-AA47-E637DDC9103F}"/>
              </a:ext>
            </a:extLst>
          </p:cNvPr>
          <p:cNvPicPr>
            <a:picLocks noChangeAspect="1"/>
          </p:cNvPicPr>
          <p:nvPr/>
        </p:nvPicPr>
        <p:blipFill>
          <a:blip r:embed="rId6"/>
          <a:stretch>
            <a:fillRect/>
          </a:stretch>
        </p:blipFill>
        <p:spPr>
          <a:xfrm>
            <a:off x="4594389" y="3693826"/>
            <a:ext cx="2751400" cy="1904815"/>
          </a:xfrm>
          <a:prstGeom prst="rect">
            <a:avLst/>
          </a:prstGeom>
        </p:spPr>
      </p:pic>
      <p:pic>
        <p:nvPicPr>
          <p:cNvPr id="12" name="Imagen 11">
            <a:extLst>
              <a:ext uri="{FF2B5EF4-FFF2-40B4-BE49-F238E27FC236}">
                <a16:creationId xmlns:a16="http://schemas.microsoft.com/office/drawing/2014/main" id="{2802E534-3703-4DB3-9113-79233D16852D}"/>
              </a:ext>
            </a:extLst>
          </p:cNvPr>
          <p:cNvPicPr>
            <a:picLocks noChangeAspect="1"/>
          </p:cNvPicPr>
          <p:nvPr/>
        </p:nvPicPr>
        <p:blipFill>
          <a:blip r:embed="rId7"/>
          <a:stretch>
            <a:fillRect/>
          </a:stretch>
        </p:blipFill>
        <p:spPr>
          <a:xfrm>
            <a:off x="8359656" y="1961806"/>
            <a:ext cx="2892231" cy="1966919"/>
          </a:xfrm>
          <a:prstGeom prst="rect">
            <a:avLst/>
          </a:prstGeom>
        </p:spPr>
      </p:pic>
    </p:spTree>
    <p:extLst>
      <p:ext uri="{BB962C8B-B14F-4D97-AF65-F5344CB8AC3E}">
        <p14:creationId xmlns:p14="http://schemas.microsoft.com/office/powerpoint/2010/main" val="14314473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Multimode Interference (MMI) Coupler cross-section</a:t>
            </a: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0.2. COUPLERS</a:t>
            </a:r>
            <a:endParaRPr lang="es-ES" spc="-5" dirty="0"/>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D838A93A-BFC8-0124-93CE-FDC193435A0C}"/>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DC cross-section</a:t>
                </a:r>
              </a:p>
              <a:p>
                <a:pPr marL="342900" indent="-342900" algn="just">
                  <a:buFont typeface="Arial" panose="020B0604020202020204" pitchFamily="34" charset="0"/>
                  <a:buChar char="•"/>
                </a:pPr>
                <a:r>
                  <a:rPr lang="en-US" sz="2000" dirty="0"/>
                  <a:t>Describe how to obtain the beating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sz="2000" b="1" dirty="0"/>
                  <a:t>ALL EXAMPLE #2: </a:t>
                </a:r>
                <a:r>
                  <a:rPr lang="en-US" sz="2000" dirty="0"/>
                  <a:t>waveguide width 12 µm, gap between waveguides 0.6 µm, deep </a:t>
                </a:r>
                <a:r>
                  <a:rPr lang="en-US" sz="2000" dirty="0" err="1"/>
                  <a:t>wvg</a:t>
                </a:r>
                <a:r>
                  <a:rPr lang="en-US" sz="2000" dirty="0"/>
                  <a:t>, wavelength start and end same 1.55 µm </a:t>
                </a:r>
                <a:r>
                  <a:rPr lang="en-US" sz="2000" dirty="0">
                    <a:sym typeface="Wingdings" pitchFamily="2" charset="2"/>
                  </a:rPr>
                  <a:t> all ”Run”</a:t>
                </a:r>
                <a:endParaRPr lang="en-US" sz="2000" dirty="0"/>
              </a:p>
              <a:p>
                <a:pPr marL="0" indent="0" algn="just">
                  <a:buNone/>
                </a:pPr>
                <a:r>
                  <a:rPr lang="en-US" sz="2000" b="1" dirty="0"/>
                  <a:t>ALL: </a:t>
                </a:r>
                <a:r>
                  <a:rPr lang="en-US" sz="2000" dirty="0"/>
                  <a:t>Follow</a:t>
                </a:r>
                <a:r>
                  <a:rPr lang="en-US" sz="2000" b="1" dirty="0"/>
                  <a:t> </a:t>
                </a:r>
                <a:r>
                  <a:rPr lang="en-US" sz="2000" dirty="0"/>
                  <a:t>instructor, that will show how to 1) plot mode, 2) explore the results (neff …)</a:t>
                </a:r>
              </a:p>
              <a:p>
                <a:pPr algn="just"/>
                <a:endParaRPr lang="en-US" sz="2000" b="1" i="1" u="sng" dirty="0"/>
              </a:p>
              <a:p>
                <a:pPr algn="just"/>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D838A93A-BFC8-0124-93CE-FDC193435A0C}"/>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r="-552"/>
                </a:stretch>
              </a:blipFill>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FDE3A197-9508-F9F1-1FEB-FF883D78C151}"/>
                  </a:ext>
                </a:extLst>
              </p:cNvPr>
              <p:cNvSpPr txBox="1"/>
              <p:nvPr/>
            </p:nvSpPr>
            <p:spPr>
              <a:xfrm>
                <a:off x="518056" y="3774468"/>
                <a:ext cx="11199971" cy="2492990"/>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(neff, plot fields of different modes, comparison between different polarizations…)</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La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de batido </a:t>
                </a:r>
                <a14:m>
                  <m:oMath xmlns:m="http://schemas.openxmlformats.org/officeDocument/2006/math">
                    <m:sSub>
                      <m:sSubPr>
                        <m:ctrlPr>
                          <a:rPr lang="es-ES" sz="1200" b="0" i="1" smtClean="0">
                            <a:latin typeface="Cambria Math" panose="02040503050406030204" pitchFamily="18" charset="0"/>
                          </a:rPr>
                        </m:ctrlPr>
                      </m:sSubPr>
                      <m:e>
                        <m:r>
                          <a:rPr lang="es-ES" sz="1200" b="0" i="1" smtClean="0">
                            <a:latin typeface="Cambria Math" panose="02040503050406030204" pitchFamily="18" charset="0"/>
                          </a:rPr>
                          <m:t>𝐿</m:t>
                        </m:r>
                      </m:e>
                      <m:sub>
                        <m:r>
                          <a:rPr lang="es-ES" sz="1200" b="0" i="1" smtClean="0">
                            <a:latin typeface="Cambria Math" panose="02040503050406030204" pitchFamily="18" charset="0"/>
                          </a:rPr>
                          <m:t>𝜋</m:t>
                        </m:r>
                      </m:sub>
                    </m:sSub>
                  </m:oMath>
                </a14:m>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obtiene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tomando</a:t>
                </a:r>
                <a:r>
                  <a:rPr lang="en-US" sz="1200" dirty="0">
                    <a:latin typeface="Arial" panose="020B0604020202020204" pitchFamily="34" charset="0"/>
                    <a:cs typeface="Arial" panose="020B0604020202020204" pitchFamily="34" charset="0"/>
                  </a:rPr>
                  <a:t> los </a:t>
                </a:r>
                <a:r>
                  <a:rPr lang="en-US" sz="1200" dirty="0" err="1">
                    <a:latin typeface="Arial" panose="020B0604020202020204" pitchFamily="34" charset="0"/>
                    <a:cs typeface="Arial" panose="020B0604020202020204" pitchFamily="34" charset="0"/>
                  </a:rPr>
                  <a:t>valores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numéricos</a:t>
                </a:r>
                <a:r>
                  <a:rPr lang="en-US" sz="1200" dirty="0">
                    <a:latin typeface="Arial" panose="020B0604020202020204" pitchFamily="34" charset="0"/>
                    <a:cs typeface="Arial" panose="020B0604020202020204" pitchFamily="34" charset="0"/>
                  </a:rPr>
                  <a:t> de dos </a:t>
                </a:r>
                <a:r>
                  <a:rPr lang="en-US" sz="1200" dirty="0" err="1">
                    <a:latin typeface="Arial" panose="020B0604020202020204" pitchFamily="34" charset="0"/>
                    <a:cs typeface="Arial" panose="020B0604020202020204" pitchFamily="34" charset="0"/>
                  </a:rPr>
                  <a:t>índices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caso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primer y </a:t>
                </a:r>
                <a:r>
                  <a:rPr lang="en-US" sz="1200" dirty="0" err="1">
                    <a:latin typeface="Arial" panose="020B0604020202020204" pitchFamily="34" charset="0"/>
                    <a:cs typeface="Arial" panose="020B0604020202020204" pitchFamily="34" charset="0"/>
                  </a:rPr>
                  <a:t>segundo</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dividiendo</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mitad</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central entre la </a:t>
                </a:r>
                <a:r>
                  <a:rPr lang="en-US" sz="1200" dirty="0" err="1">
                    <a:latin typeface="Arial" panose="020B0604020202020204" pitchFamily="34" charset="0"/>
                    <a:cs typeface="Arial" panose="020B0604020202020204" pitchFamily="34" charset="0"/>
                  </a:rPr>
                  <a:t>diferencia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estos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efectivos</a:t>
                </a:r>
                <a:r>
                  <a:rPr lang="en-US" sz="1200" dirty="0">
                    <a:latin typeface="Arial" panose="020B0604020202020204" pitchFamily="34" charset="0"/>
                    <a:cs typeface="Arial" panose="020B0604020202020204" pitchFamily="34" charset="0"/>
                  </a:rPr>
                  <a:t>. Como </a:t>
                </a:r>
                <a:r>
                  <a:rPr lang="en-US" sz="1200" dirty="0" err="1">
                    <a:latin typeface="Arial" panose="020B0604020202020204" pitchFamily="34" charset="0"/>
                    <a:cs typeface="Arial" panose="020B0604020202020204" pitchFamily="34" charset="0"/>
                  </a:rPr>
                  <a:t>resultado</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obtiene</a:t>
                </a:r>
                <a:r>
                  <a:rPr lang="en-US" sz="1200" dirty="0">
                    <a:latin typeface="Arial" panose="020B0604020202020204" pitchFamily="34" charset="0"/>
                    <a:cs typeface="Arial" panose="020B0604020202020204" pitchFamily="34" charset="0"/>
                  </a:rPr>
                  <a:t> un valor de </a:t>
                </a:r>
                <a14:m>
                  <m:oMath xmlns:m="http://schemas.openxmlformats.org/officeDocument/2006/math">
                    <m:sSub>
                      <m:sSubPr>
                        <m:ctrlPr>
                          <a:rPr lang="es-ES" sz="1200" i="1">
                            <a:latin typeface="Cambria Math" panose="02040503050406030204" pitchFamily="18" charset="0"/>
                          </a:rPr>
                        </m:ctrlPr>
                      </m:sSubPr>
                      <m:e>
                        <m:r>
                          <a:rPr lang="es-ES" sz="1200" i="1">
                            <a:latin typeface="Cambria Math" panose="02040503050406030204" pitchFamily="18" charset="0"/>
                          </a:rPr>
                          <m:t>𝐿</m:t>
                        </m:r>
                      </m:e>
                      <m:sub>
                        <m:r>
                          <a:rPr lang="es-ES" sz="1200" i="1">
                            <a:latin typeface="Cambria Math" panose="02040503050406030204" pitchFamily="18" charset="0"/>
                          </a:rPr>
                          <m:t>𝜋</m:t>
                        </m:r>
                      </m:sub>
                    </m:sSub>
                    <m:r>
                      <a:rPr lang="es-ES" sz="1200" b="0" i="1" smtClean="0">
                        <a:latin typeface="Cambria Math" panose="02040503050406030204" pitchFamily="18" charset="0"/>
                      </a:rPr>
                      <m:t>=212.41</m:t>
                    </m:r>
                    <m:r>
                      <m:rPr>
                        <m:nor/>
                      </m:rPr>
                      <a:rPr lang="en-US" sz="1200" dirty="0"/>
                      <m:t>µ</m:t>
                    </m:r>
                    <m:r>
                      <m:rPr>
                        <m:nor/>
                      </m:rPr>
                      <a:rPr lang="en-US" sz="1200" dirty="0"/>
                      <m:t>m</m:t>
                    </m:r>
                  </m:oMath>
                </a14:m>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mc:Choice>
        <mc:Fallback>
          <p:sp>
            <p:nvSpPr>
              <p:cNvPr id="2" name="CuadroTexto 1">
                <a:extLst>
                  <a:ext uri="{FF2B5EF4-FFF2-40B4-BE49-F238E27FC236}">
                    <a16:creationId xmlns:a16="http://schemas.microsoft.com/office/drawing/2014/main" id="{FDE3A197-9508-F9F1-1FEB-FF883D78C151}"/>
                  </a:ext>
                </a:extLst>
              </p:cNvPr>
              <p:cNvSpPr txBox="1">
                <a:spLocks noRot="1" noChangeAspect="1" noMove="1" noResize="1" noEditPoints="1" noAdjustHandles="1" noChangeArrowheads="1" noChangeShapeType="1" noTextEdit="1"/>
              </p:cNvSpPr>
              <p:nvPr/>
            </p:nvSpPr>
            <p:spPr>
              <a:xfrm>
                <a:off x="518056" y="3774468"/>
                <a:ext cx="11199971" cy="2492990"/>
              </a:xfrm>
              <a:prstGeom prst="rect">
                <a:avLst/>
              </a:prstGeom>
              <a:blipFill>
                <a:blip r:embed="rId6"/>
                <a:stretch>
                  <a:fillRect/>
                </a:stretch>
              </a:blipFill>
              <a:ln w="28575">
                <a:solidFill>
                  <a:srgbClr val="E0700D"/>
                </a:solidFill>
              </a:ln>
            </p:spPr>
            <p:txBody>
              <a:bodyPr/>
              <a:lstStyle/>
              <a:p>
                <a:r>
                  <a:rPr lang="es-ES">
                    <a:noFill/>
                  </a:rPr>
                  <a:t> </a:t>
                </a:r>
              </a:p>
            </p:txBody>
          </p:sp>
        </mc:Fallback>
      </mc:AlternateContent>
      <p:pic>
        <p:nvPicPr>
          <p:cNvPr id="6" name="Imagen 5">
            <a:extLst>
              <a:ext uri="{FF2B5EF4-FFF2-40B4-BE49-F238E27FC236}">
                <a16:creationId xmlns:a16="http://schemas.microsoft.com/office/drawing/2014/main" id="{BA205516-F93B-4FBA-BA73-0A5A8624223C}"/>
              </a:ext>
            </a:extLst>
          </p:cNvPr>
          <p:cNvPicPr>
            <a:picLocks noChangeAspect="1"/>
          </p:cNvPicPr>
          <p:nvPr/>
        </p:nvPicPr>
        <p:blipFill>
          <a:blip r:embed="rId7"/>
          <a:stretch>
            <a:fillRect/>
          </a:stretch>
        </p:blipFill>
        <p:spPr>
          <a:xfrm>
            <a:off x="3406860" y="4724400"/>
            <a:ext cx="4876800" cy="1239993"/>
          </a:xfrm>
          <a:prstGeom prst="rect">
            <a:avLst/>
          </a:prstGeom>
        </p:spPr>
      </p:pic>
    </p:spTree>
    <p:extLst>
      <p:ext uri="{BB962C8B-B14F-4D97-AF65-F5344CB8AC3E}">
        <p14:creationId xmlns:p14="http://schemas.microsoft.com/office/powerpoint/2010/main" val="36604382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CBD5F6C9-C94E-4972-A435-0A8F21321D59}"/>
              </a:ext>
            </a:extLst>
          </p:cNvPr>
          <p:cNvSpPr>
            <a:spLocks noGrp="1"/>
          </p:cNvSpPr>
          <p:nvPr>
            <p:ph type="body" idx="1"/>
          </p:nvPr>
        </p:nvSpPr>
        <p:spPr>
          <a:xfrm>
            <a:off x="609600" y="762000"/>
            <a:ext cx="10972800" cy="5539978"/>
          </a:xfrm>
        </p:spPr>
        <p:txBody>
          <a:bodyPr/>
          <a:lstStyle/>
          <a:p>
            <a:r>
              <a:rPr lang="es-ES" sz="1200" dirty="0"/>
              <a:t>Índices efectivos para los 30 primeros modos:</a:t>
            </a:r>
          </a:p>
          <a:p>
            <a:r>
              <a:rPr lang="es-ES" sz="1200" dirty="0"/>
              <a:t>array([1.6786595 +7.78934672e-05j, 1.67512732+7.81571827e-05j,</a:t>
            </a:r>
          </a:p>
          <a:p>
            <a:r>
              <a:rPr lang="es-ES" sz="1200" dirty="0"/>
              <a:t>       1.66922847+7.86028340e-05j, 1.66094525+7.92401466e-05j,</a:t>
            </a:r>
          </a:p>
          <a:p>
            <a:r>
              <a:rPr lang="es-ES" sz="1200" dirty="0"/>
              <a:t>       1.65025312+8.00839409e-05j, 1.63712124+8.11557006e-05j,</a:t>
            </a:r>
          </a:p>
          <a:p>
            <a:r>
              <a:rPr lang="es-ES" sz="1200" dirty="0"/>
              <a:t>       1.6215135 +8.24863265e-05j, 1.60339058+8.41212350e-05j,</a:t>
            </a:r>
          </a:p>
          <a:p>
            <a:r>
              <a:rPr lang="es-ES" sz="1200" dirty="0"/>
              <a:t>       1.58271457+8.61311110e-05j, 1.5774205 +1.66068730e-04j,</a:t>
            </a:r>
          </a:p>
          <a:p>
            <a:r>
              <a:rPr lang="es-ES" sz="1200" dirty="0"/>
              <a:t>       1.57388942+1.66498915e-04j, 1.56799588+1.67223410e-04j,</a:t>
            </a:r>
          </a:p>
          <a:p>
            <a:r>
              <a:rPr lang="es-ES" sz="1200" dirty="0"/>
              <a:t>       1.55972723+1.68258132e-04j, 1.5594584 +8.86366882e-05j,</a:t>
            </a:r>
          </a:p>
          <a:p>
            <a:r>
              <a:rPr lang="es-ES" sz="1200" dirty="0"/>
              <a:t>       1.54906903+1.69617736e-04j, 1.53601168+1.71243999e-04j,</a:t>
            </a:r>
          </a:p>
          <a:p>
            <a:r>
              <a:rPr lang="es-ES" sz="1200" dirty="0"/>
              <a:t>       1.53362692+9.19569892e-05j, 1.52054265+1.73463904e-04j,</a:t>
            </a:r>
          </a:p>
          <a:p>
            <a:r>
              <a:rPr lang="es-ES" sz="1200" dirty="0"/>
              <a:t>       1.5053405 +9.64082096e-05j, 1.50269423+1.76086968e-04j,</a:t>
            </a:r>
          </a:p>
          <a:p>
            <a:r>
              <a:rPr lang="es-ES" sz="1200" dirty="0"/>
              <a:t>       1.48257196+1.79388862e-04j, 1.4750929 +1.04662871e-04j,</a:t>
            </a:r>
          </a:p>
          <a:p>
            <a:r>
              <a:rPr lang="es-ES" sz="1200" dirty="0"/>
              <a:t>       1.46055739+1.83954929e-04j, 1.44602702+1.38735742e-04j,</a:t>
            </a:r>
          </a:p>
          <a:p>
            <a:r>
              <a:rPr lang="es-ES" sz="1200" dirty="0"/>
              <a:t>       1.44427255+2.13138695e-04j, 1.44154639+2.15937624e-04j,</a:t>
            </a:r>
          </a:p>
          <a:p>
            <a:r>
              <a:rPr lang="es-ES" sz="1200" dirty="0"/>
              <a:t>       1.43845554+1.93429161e-04j, 1.43685358+2.16442381e-04j,</a:t>
            </a:r>
          </a:p>
          <a:p>
            <a:r>
              <a:rPr lang="es-ES" sz="1200" dirty="0"/>
              <a:t>       1.43133766+1.97271657e-04j, 1.43033094+2.15440791e-04j])</a:t>
            </a:r>
          </a:p>
          <a:p>
            <a:endParaRPr lang="es-ES" sz="1200" dirty="0"/>
          </a:p>
          <a:p>
            <a:r>
              <a:rPr lang="es-ES" sz="1200" dirty="0"/>
              <a:t>Si nos fijamos en la parte real, podemos observar que se propagan los 25 primeros modos menos el último, ya que este ve un índice efectivo menor al del </a:t>
            </a:r>
            <a:r>
              <a:rPr lang="es-ES" sz="1200" dirty="0" err="1"/>
              <a:t>cladding</a:t>
            </a:r>
            <a:r>
              <a:rPr lang="es-ES" sz="1200" dirty="0"/>
              <a:t> (1.44).</a:t>
            </a:r>
          </a:p>
          <a:p>
            <a:endParaRPr lang="es-ES" sz="1200" dirty="0"/>
          </a:p>
          <a:p>
            <a:r>
              <a:rPr lang="es-ES" sz="1200" dirty="0"/>
              <a:t>Análisis del porcentaje de TE de cada modo:</a:t>
            </a:r>
          </a:p>
          <a:p>
            <a:r>
              <a:rPr lang="en-US" sz="1200" dirty="0"/>
              <a:t>array([9.99991904e-01, 9.99967183e-01, 9.99924497e-01, 9.99861445e-01,</a:t>
            </a:r>
          </a:p>
          <a:p>
            <a:r>
              <a:rPr lang="en-US" sz="1200" dirty="0"/>
              <a:t>       9.99774272e-01, 9.99657368e-01, 9.99502382e-01, 9.99296461e-01,</a:t>
            </a:r>
          </a:p>
          <a:p>
            <a:r>
              <a:rPr lang="en-US" sz="1200" dirty="0"/>
              <a:t>       9.99013009e-01, 2.38565216e-04, 9.55099424e-04, 2.13831793e-03,</a:t>
            </a:r>
          </a:p>
          <a:p>
            <a:r>
              <a:rPr lang="en-US" sz="1200" dirty="0"/>
              <a:t>       3.73633926e-03, 9.98594348e-01, 5.78997522e-03, 9.32192911e-03,</a:t>
            </a:r>
          </a:p>
          <a:p>
            <a:r>
              <a:rPr lang="en-US" sz="1200" dirty="0"/>
              <a:t>       9.96954269e-01, 1.09103635e-02, 9.97247761e-01, 1.38536944e-02,</a:t>
            </a:r>
          </a:p>
          <a:p>
            <a:r>
              <a:rPr lang="en-US" sz="1200" dirty="0"/>
              <a:t>       1.69467184e-02, 9.95776123e-01, 1.98944330e-02, 9.71035840e-01,</a:t>
            </a:r>
          </a:p>
          <a:p>
            <a:r>
              <a:rPr lang="en-US" sz="1200" dirty="0"/>
              <a:t>       5.87218497e-02, 2.41834581e-03, 2.08842314e-02, 1.51438309e-02,</a:t>
            </a:r>
          </a:p>
          <a:p>
            <a:r>
              <a:rPr lang="en-US" sz="1200" dirty="0"/>
              <a:t>       8.39470852e-01, 1.90596366e-01])</a:t>
            </a:r>
          </a:p>
          <a:p>
            <a:endParaRPr lang="en-US" sz="1200" dirty="0"/>
          </a:p>
          <a:p>
            <a:r>
              <a:rPr lang="es-ES" sz="1200" dirty="0"/>
              <a:t>Podemos observar que los modos que serán más TE son el 1-9,14,17, 19, 22, 24 y 29, mientras que el resto tendrán mayor componente TM.</a:t>
            </a:r>
          </a:p>
        </p:txBody>
      </p:sp>
      <p:sp>
        <p:nvSpPr>
          <p:cNvPr id="4" name="Marcador de pie de página 3">
            <a:extLst>
              <a:ext uri="{FF2B5EF4-FFF2-40B4-BE49-F238E27FC236}">
                <a16:creationId xmlns:a16="http://schemas.microsoft.com/office/drawing/2014/main" id="{E0CD65A1-9D4A-4D1C-AFBB-431764CDB3F0}"/>
              </a:ext>
            </a:extLst>
          </p:cNvPr>
          <p:cNvSpPr>
            <a:spLocks noGrp="1"/>
          </p:cNvSpPr>
          <p:nvPr>
            <p:ph type="ftr" sz="quarter" idx="5"/>
          </p:nvPr>
        </p:nvSpPr>
        <p:spPr/>
        <p:txBody>
          <a:bodyPr/>
          <a:lstStyle/>
          <a:p>
            <a:pPr marL="12700">
              <a:spcBef>
                <a:spcPts val="15"/>
              </a:spcBef>
            </a:pPr>
            <a:r>
              <a:rPr lang="es-ES" spc="-5" dirty="0"/>
              <a:t>LAB 0.2. COUPLERS</a:t>
            </a:r>
          </a:p>
        </p:txBody>
      </p:sp>
      <p:sp>
        <p:nvSpPr>
          <p:cNvPr id="5" name="Marcador de número de diapositiva 4">
            <a:extLst>
              <a:ext uri="{FF2B5EF4-FFF2-40B4-BE49-F238E27FC236}">
                <a16:creationId xmlns:a16="http://schemas.microsoft.com/office/drawing/2014/main" id="{8FE1C107-890A-49C8-B1C9-17571AEBDB76}"/>
              </a:ext>
            </a:extLst>
          </p:cNvPr>
          <p:cNvSpPr>
            <a:spLocks noGrp="1"/>
          </p:cNvSpPr>
          <p:nvPr>
            <p:ph type="sldNum" sz="quarter" idx="7"/>
          </p:nvPr>
        </p:nvSpPr>
        <p:spPr/>
        <p:txBody>
          <a:bodyPr/>
          <a:lstStyle/>
          <a:p>
            <a:fld id="{B6F15528-21DE-4FAA-801E-634DDDAF4B2B}" type="slidenum">
              <a:rPr lang="es-ES" smtClean="0"/>
              <a:t>8</a:t>
            </a:fld>
            <a:endParaRPr lang="es-ES" dirty="0"/>
          </a:p>
        </p:txBody>
      </p:sp>
      <p:sp>
        <p:nvSpPr>
          <p:cNvPr id="19" name="object 16">
            <a:extLst>
              <a:ext uri="{FF2B5EF4-FFF2-40B4-BE49-F238E27FC236}">
                <a16:creationId xmlns:a16="http://schemas.microsoft.com/office/drawing/2014/main" id="{8AFCDEA1-211D-4C75-AC9E-88A4F8E1B393}"/>
              </a:ext>
            </a:extLst>
          </p:cNvPr>
          <p:cNvSpPr txBox="1">
            <a:spLocks noGrp="1"/>
          </p:cNvSpPr>
          <p:nvPr>
            <p:ph type="title"/>
          </p:nvPr>
        </p:nvSpPr>
        <p:spPr>
          <a:xfrm>
            <a:off x="590550" y="206375"/>
            <a:ext cx="10991850" cy="39754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Multimode Interference (MMI) Coupler cross-section</a:t>
            </a:r>
            <a:endParaRPr sz="2500" b="0" dirty="0">
              <a:latin typeface="+mj-lt"/>
              <a:cs typeface="Lucida Sans"/>
            </a:endParaRPr>
          </a:p>
        </p:txBody>
      </p:sp>
    </p:spTree>
    <p:extLst>
      <p:ext uri="{BB962C8B-B14F-4D97-AF65-F5344CB8AC3E}">
        <p14:creationId xmlns:p14="http://schemas.microsoft.com/office/powerpoint/2010/main" val="797097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A83EB4-B2EA-4E80-9DCF-ABFDDEEC0ACD}"/>
              </a:ext>
            </a:extLst>
          </p:cNvPr>
          <p:cNvSpPr>
            <a:spLocks noGrp="1"/>
          </p:cNvSpPr>
          <p:nvPr>
            <p:ph type="title"/>
          </p:nvPr>
        </p:nvSpPr>
        <p:spPr>
          <a:xfrm>
            <a:off x="590550" y="206752"/>
            <a:ext cx="10991850" cy="384721"/>
          </a:xfrm>
        </p:spPr>
        <p:txBody>
          <a:bodyPr/>
          <a:lstStyle/>
          <a:p>
            <a:r>
              <a:rPr lang="en-US" sz="2500" dirty="0"/>
              <a:t>Learning outcome #2 – Multimode Interference (MMI) Coupler cross-section</a:t>
            </a:r>
            <a:endParaRPr lang="es-ES" sz="2500" dirty="0"/>
          </a:p>
        </p:txBody>
      </p:sp>
      <p:sp>
        <p:nvSpPr>
          <p:cNvPr id="3" name="Marcador de texto 2">
            <a:extLst>
              <a:ext uri="{FF2B5EF4-FFF2-40B4-BE49-F238E27FC236}">
                <a16:creationId xmlns:a16="http://schemas.microsoft.com/office/drawing/2014/main" id="{79BAC382-009F-41DF-9F8C-AF8D12408105}"/>
              </a:ext>
            </a:extLst>
          </p:cNvPr>
          <p:cNvSpPr>
            <a:spLocks noGrp="1"/>
          </p:cNvSpPr>
          <p:nvPr>
            <p:ph type="body" idx="1"/>
          </p:nvPr>
        </p:nvSpPr>
        <p:spPr>
          <a:xfrm>
            <a:off x="592667" y="4622039"/>
            <a:ext cx="10972800" cy="923330"/>
          </a:xfrm>
        </p:spPr>
        <p:txBody>
          <a:bodyPr/>
          <a:lstStyle/>
          <a:p>
            <a:r>
              <a:rPr lang="es-ES" sz="1200" dirty="0"/>
              <a:t>Podemos observar cómo para diferentes longitudes en el MMI, se propaga un modo espacial distinto en su interior, es decir, cuanto mayor es el orden del modo, menor es su índice efectivo, tal como se explicó en las sesiones de laboratorio anteriores.</a:t>
            </a:r>
          </a:p>
          <a:p>
            <a:endParaRPr lang="es-ES" sz="1200" dirty="0"/>
          </a:p>
          <a:p>
            <a:r>
              <a:rPr lang="es-ES" sz="1200" dirty="0"/>
              <a:t>Se ha representado gráficamente los modos TE0, TE1 y  TE7. Sabemos que son estos modos debido a que la fracción TE es cercana a 1. Aunque los modos TM también se propagan, la forma espacial de la guía de onda se adapta mejor a los modos TE.</a:t>
            </a:r>
          </a:p>
        </p:txBody>
      </p:sp>
      <p:sp>
        <p:nvSpPr>
          <p:cNvPr id="4" name="Marcador de pie de página 3">
            <a:extLst>
              <a:ext uri="{FF2B5EF4-FFF2-40B4-BE49-F238E27FC236}">
                <a16:creationId xmlns:a16="http://schemas.microsoft.com/office/drawing/2014/main" id="{C440943F-FAA5-4B0E-AA40-3B1B64D384C8}"/>
              </a:ext>
            </a:extLst>
          </p:cNvPr>
          <p:cNvSpPr>
            <a:spLocks noGrp="1"/>
          </p:cNvSpPr>
          <p:nvPr>
            <p:ph type="ftr" sz="quarter" idx="5"/>
          </p:nvPr>
        </p:nvSpPr>
        <p:spPr/>
        <p:txBody>
          <a:bodyPr/>
          <a:lstStyle/>
          <a:p>
            <a:pPr marL="12700">
              <a:spcBef>
                <a:spcPts val="15"/>
              </a:spcBef>
            </a:pPr>
            <a:r>
              <a:rPr lang="es-ES" spc="-5"/>
              <a:t>LAB 0.2. COUPLERS</a:t>
            </a:r>
            <a:endParaRPr lang="es-ES" spc="-5" dirty="0"/>
          </a:p>
        </p:txBody>
      </p:sp>
      <p:sp>
        <p:nvSpPr>
          <p:cNvPr id="5" name="Marcador de número de diapositiva 4">
            <a:extLst>
              <a:ext uri="{FF2B5EF4-FFF2-40B4-BE49-F238E27FC236}">
                <a16:creationId xmlns:a16="http://schemas.microsoft.com/office/drawing/2014/main" id="{7A22CBC6-9ED0-4C95-8F63-09518B5D9221}"/>
              </a:ext>
            </a:extLst>
          </p:cNvPr>
          <p:cNvSpPr>
            <a:spLocks noGrp="1"/>
          </p:cNvSpPr>
          <p:nvPr>
            <p:ph type="sldNum" sz="quarter" idx="7"/>
          </p:nvPr>
        </p:nvSpPr>
        <p:spPr/>
        <p:txBody>
          <a:bodyPr/>
          <a:lstStyle/>
          <a:p>
            <a:fld id="{B6F15528-21DE-4FAA-801E-634DDDAF4B2B}" type="slidenum">
              <a:rPr lang="es-ES" smtClean="0"/>
              <a:t>9</a:t>
            </a:fld>
            <a:endParaRPr lang="es-ES"/>
          </a:p>
        </p:txBody>
      </p:sp>
      <p:pic>
        <p:nvPicPr>
          <p:cNvPr id="7" name="Imagen 6">
            <a:extLst>
              <a:ext uri="{FF2B5EF4-FFF2-40B4-BE49-F238E27FC236}">
                <a16:creationId xmlns:a16="http://schemas.microsoft.com/office/drawing/2014/main" id="{6056C499-CB27-4CA8-B9A6-788BDC676FE0}"/>
              </a:ext>
            </a:extLst>
          </p:cNvPr>
          <p:cNvPicPr>
            <a:picLocks noChangeAspect="1"/>
          </p:cNvPicPr>
          <p:nvPr/>
        </p:nvPicPr>
        <p:blipFill>
          <a:blip r:embed="rId2"/>
          <a:stretch>
            <a:fillRect/>
          </a:stretch>
        </p:blipFill>
        <p:spPr>
          <a:xfrm>
            <a:off x="973666" y="1958527"/>
            <a:ext cx="3022595" cy="2157412"/>
          </a:xfrm>
          <a:prstGeom prst="rect">
            <a:avLst/>
          </a:prstGeom>
        </p:spPr>
      </p:pic>
      <p:pic>
        <p:nvPicPr>
          <p:cNvPr id="9" name="Imagen 8">
            <a:extLst>
              <a:ext uri="{FF2B5EF4-FFF2-40B4-BE49-F238E27FC236}">
                <a16:creationId xmlns:a16="http://schemas.microsoft.com/office/drawing/2014/main" id="{9FAF82E5-E9CF-4488-860A-07E88E759C62}"/>
              </a:ext>
            </a:extLst>
          </p:cNvPr>
          <p:cNvPicPr>
            <a:picLocks noChangeAspect="1"/>
          </p:cNvPicPr>
          <p:nvPr/>
        </p:nvPicPr>
        <p:blipFill>
          <a:blip r:embed="rId3"/>
          <a:stretch>
            <a:fillRect/>
          </a:stretch>
        </p:blipFill>
        <p:spPr>
          <a:xfrm>
            <a:off x="4402667" y="1958527"/>
            <a:ext cx="3083602" cy="2157412"/>
          </a:xfrm>
          <a:prstGeom prst="rect">
            <a:avLst/>
          </a:prstGeom>
        </p:spPr>
      </p:pic>
      <p:pic>
        <p:nvPicPr>
          <p:cNvPr id="11" name="Imagen 10">
            <a:extLst>
              <a:ext uri="{FF2B5EF4-FFF2-40B4-BE49-F238E27FC236}">
                <a16:creationId xmlns:a16="http://schemas.microsoft.com/office/drawing/2014/main" id="{497B5496-026D-47D6-BFF9-E04E6EAA33A9}"/>
              </a:ext>
            </a:extLst>
          </p:cNvPr>
          <p:cNvPicPr>
            <a:picLocks noChangeAspect="1"/>
          </p:cNvPicPr>
          <p:nvPr/>
        </p:nvPicPr>
        <p:blipFill>
          <a:blip r:embed="rId4"/>
          <a:stretch>
            <a:fillRect/>
          </a:stretch>
        </p:blipFill>
        <p:spPr>
          <a:xfrm>
            <a:off x="7907867" y="1958527"/>
            <a:ext cx="3083601" cy="2157412"/>
          </a:xfrm>
          <a:prstGeom prst="rect">
            <a:avLst/>
          </a:prstGeom>
        </p:spPr>
      </p:pic>
      <p:sp>
        <p:nvSpPr>
          <p:cNvPr id="12" name="CuadroTexto 11">
            <a:extLst>
              <a:ext uri="{FF2B5EF4-FFF2-40B4-BE49-F238E27FC236}">
                <a16:creationId xmlns:a16="http://schemas.microsoft.com/office/drawing/2014/main" id="{CC689859-3031-47CF-8C69-A59D7BA0119F}"/>
              </a:ext>
            </a:extLst>
          </p:cNvPr>
          <p:cNvSpPr txBox="1"/>
          <p:nvPr/>
        </p:nvSpPr>
        <p:spPr>
          <a:xfrm>
            <a:off x="701671" y="1143000"/>
            <a:ext cx="2862795" cy="461665"/>
          </a:xfrm>
          <a:prstGeom prst="rect">
            <a:avLst/>
          </a:prstGeom>
          <a:noFill/>
        </p:spPr>
        <p:txBody>
          <a:bodyPr wrap="square">
            <a:spAutoFit/>
          </a:bodyPr>
          <a:lstStyle/>
          <a:p>
            <a:r>
              <a:rPr lang="es-ES" sz="1200" dirty="0"/>
              <a:t>Sección transversal del primer modo del </a:t>
            </a:r>
            <a:r>
              <a:rPr lang="es-ES" sz="1200" dirty="0" err="1"/>
              <a:t>modesolver</a:t>
            </a:r>
            <a:r>
              <a:rPr lang="es-ES" sz="1200" dirty="0"/>
              <a:t> (TE)</a:t>
            </a:r>
          </a:p>
        </p:txBody>
      </p:sp>
      <p:sp>
        <p:nvSpPr>
          <p:cNvPr id="13" name="CuadroTexto 12">
            <a:extLst>
              <a:ext uri="{FF2B5EF4-FFF2-40B4-BE49-F238E27FC236}">
                <a16:creationId xmlns:a16="http://schemas.microsoft.com/office/drawing/2014/main" id="{28C561EB-49FD-4380-852E-1DA2141918E3}"/>
              </a:ext>
            </a:extLst>
          </p:cNvPr>
          <p:cNvSpPr txBox="1"/>
          <p:nvPr/>
        </p:nvSpPr>
        <p:spPr>
          <a:xfrm>
            <a:off x="4428067" y="1141311"/>
            <a:ext cx="3667125" cy="276999"/>
          </a:xfrm>
          <a:prstGeom prst="rect">
            <a:avLst/>
          </a:prstGeom>
          <a:noFill/>
        </p:spPr>
        <p:txBody>
          <a:bodyPr wrap="square">
            <a:spAutoFit/>
          </a:bodyPr>
          <a:lstStyle/>
          <a:p>
            <a:r>
              <a:rPr lang="es-ES" sz="1200" dirty="0"/>
              <a:t>Sección transversal del modo 2 (TE)</a:t>
            </a:r>
          </a:p>
        </p:txBody>
      </p:sp>
      <p:sp>
        <p:nvSpPr>
          <p:cNvPr id="14" name="CuadroTexto 13">
            <a:extLst>
              <a:ext uri="{FF2B5EF4-FFF2-40B4-BE49-F238E27FC236}">
                <a16:creationId xmlns:a16="http://schemas.microsoft.com/office/drawing/2014/main" id="{6A807AC4-DA9A-4EDA-9FEC-E276A25029AE}"/>
              </a:ext>
            </a:extLst>
          </p:cNvPr>
          <p:cNvSpPr txBox="1"/>
          <p:nvPr/>
        </p:nvSpPr>
        <p:spPr>
          <a:xfrm>
            <a:off x="8060267" y="1143000"/>
            <a:ext cx="3810000" cy="276999"/>
          </a:xfrm>
          <a:prstGeom prst="rect">
            <a:avLst/>
          </a:prstGeom>
          <a:noFill/>
        </p:spPr>
        <p:txBody>
          <a:bodyPr wrap="square">
            <a:spAutoFit/>
          </a:bodyPr>
          <a:lstStyle/>
          <a:p>
            <a:r>
              <a:rPr lang="es-ES" sz="1200" dirty="0"/>
              <a:t>Sección transversal del modo 8 (TE).</a:t>
            </a:r>
          </a:p>
        </p:txBody>
      </p:sp>
    </p:spTree>
    <p:extLst>
      <p:ext uri="{BB962C8B-B14F-4D97-AF65-F5344CB8AC3E}">
        <p14:creationId xmlns:p14="http://schemas.microsoft.com/office/powerpoint/2010/main" val="4164403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10</a:t>
            </a:fld>
            <a:endParaRPr lang="es-E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142EF5-74F6-4935-9D72-DB4F48743FFA}"/>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92710A37-98E0-4CCF-8EF0-9D8D84970DD9}"/>
              </a:ext>
            </a:extLst>
          </p:cNvPr>
          <p:cNvSpPr>
            <a:spLocks noGrp="1"/>
          </p:cNvSpPr>
          <p:nvPr>
            <p:ph type="body" idx="1"/>
          </p:nvPr>
        </p:nvSpPr>
        <p:spPr>
          <a:xfrm>
            <a:off x="609600" y="2152910"/>
            <a:ext cx="10972800" cy="553998"/>
          </a:xfrm>
        </p:spPr>
        <p:txBody>
          <a:bodyPr/>
          <a:lstStyle/>
          <a:p>
            <a:r>
              <a:rPr lang="es-ES" sz="1200" dirty="0"/>
              <a:t>De pendiendo de la distancia  a la que se corta la longitud del MMI se va a tener una autoimagen determinada</a:t>
            </a:r>
          </a:p>
          <a:p>
            <a:endParaRPr lang="es-ES" sz="1200" dirty="0"/>
          </a:p>
          <a:p>
            <a:r>
              <a:rPr lang="es-ES" sz="1200" dirty="0"/>
              <a:t>Calcular …, …, </a:t>
            </a:r>
            <a:r>
              <a:rPr lang="es-ES" sz="1200" dirty="0" err="1"/>
              <a:t>L_pi</a:t>
            </a:r>
            <a:endParaRPr lang="es-ES" sz="1200" dirty="0"/>
          </a:p>
        </p:txBody>
      </p:sp>
      <p:sp>
        <p:nvSpPr>
          <p:cNvPr id="4" name="Marcador de pie de página 3">
            <a:extLst>
              <a:ext uri="{FF2B5EF4-FFF2-40B4-BE49-F238E27FC236}">
                <a16:creationId xmlns:a16="http://schemas.microsoft.com/office/drawing/2014/main" id="{04DDB22E-DB66-41AA-A98E-87234657D449}"/>
              </a:ext>
            </a:extLst>
          </p:cNvPr>
          <p:cNvSpPr>
            <a:spLocks noGrp="1"/>
          </p:cNvSpPr>
          <p:nvPr>
            <p:ph type="ftr" sz="quarter" idx="5"/>
          </p:nvPr>
        </p:nvSpPr>
        <p:spPr/>
        <p:txBody>
          <a:bodyPr/>
          <a:lstStyle/>
          <a:p>
            <a:pPr marL="12700">
              <a:spcBef>
                <a:spcPts val="15"/>
              </a:spcBef>
            </a:pPr>
            <a:r>
              <a:rPr lang="es-ES" spc="-5"/>
              <a:t>LAB 0.2. COUPLERS</a:t>
            </a:r>
            <a:endParaRPr lang="es-ES" spc="-5" dirty="0"/>
          </a:p>
        </p:txBody>
      </p:sp>
      <p:sp>
        <p:nvSpPr>
          <p:cNvPr id="5" name="Marcador de número de diapositiva 4">
            <a:extLst>
              <a:ext uri="{FF2B5EF4-FFF2-40B4-BE49-F238E27FC236}">
                <a16:creationId xmlns:a16="http://schemas.microsoft.com/office/drawing/2014/main" id="{953D5AE1-CE5A-4543-9BE3-C8AA193522C0}"/>
              </a:ext>
            </a:extLst>
          </p:cNvPr>
          <p:cNvSpPr>
            <a:spLocks noGrp="1"/>
          </p:cNvSpPr>
          <p:nvPr>
            <p:ph type="sldNum" sz="quarter" idx="7"/>
          </p:nvPr>
        </p:nvSpPr>
        <p:spPr/>
        <p:txBody>
          <a:bodyPr/>
          <a:lstStyle/>
          <a:p>
            <a:fld id="{B6F15528-21DE-4FAA-801E-634DDDAF4B2B}" type="slidenum">
              <a:rPr lang="es-ES" smtClean="0"/>
              <a:t>11</a:t>
            </a:fld>
            <a:endParaRPr lang="es-ES"/>
          </a:p>
        </p:txBody>
      </p:sp>
    </p:spTree>
    <p:extLst>
      <p:ext uri="{BB962C8B-B14F-4D97-AF65-F5344CB8AC3E}">
        <p14:creationId xmlns:p14="http://schemas.microsoft.com/office/powerpoint/2010/main" val="5808001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1034</TotalTime>
  <Words>1184</Words>
  <Application>Microsoft Office PowerPoint</Application>
  <PresentationFormat>Panorámica</PresentationFormat>
  <Paragraphs>147</Paragraphs>
  <Slides>11</Slides>
  <Notes>2</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11</vt:i4>
      </vt:variant>
    </vt:vector>
  </HeadingPairs>
  <TitlesOfParts>
    <vt:vector size="18" baseType="lpstr">
      <vt:lpstr>Aptos</vt:lpstr>
      <vt:lpstr>Arial</vt:lpstr>
      <vt:lpstr>Calibri</vt:lpstr>
      <vt:lpstr>Cambria Math</vt:lpstr>
      <vt:lpstr>Lucida Sans</vt:lpstr>
      <vt:lpstr>Times New Roman</vt:lpstr>
      <vt:lpstr>Office Theme</vt:lpstr>
      <vt:lpstr>Presentación de PowerPoint</vt:lpstr>
      <vt:lpstr>Instructions General</vt:lpstr>
      <vt:lpstr>Learning outcome #1 – Directional coupler cross-section in GDSFactory </vt:lpstr>
      <vt:lpstr>Learning outcome #1 – Directional coupler cross-section in GDSFactory </vt:lpstr>
      <vt:lpstr>Learning outcome #1 – Directional coupler cross-section in GDSFactory </vt:lpstr>
      <vt:lpstr>Learning outcome #1 – Directional coupler cross-section in GDSFactory </vt:lpstr>
      <vt:lpstr>Learning outcome #2 – Multimode Interference (MMI) Coupler cross-section</vt:lpstr>
      <vt:lpstr>Learning outcome #2 – Multimode Interference (MMI) Coupler cross-section</vt:lpstr>
      <vt:lpstr>Learning outcome #2 – Multimode Interference (MMI) Coupler cross-section</vt:lpstr>
      <vt:lpstr>Thank you</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cfp</cp:lastModifiedBy>
  <cp:revision>27</cp:revision>
  <dcterms:created xsi:type="dcterms:W3CDTF">2025-01-27T02:46:57Z</dcterms:created>
  <dcterms:modified xsi:type="dcterms:W3CDTF">2026-03-02T19:28:06Z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