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89" r:id="rId3"/>
    <p:sldId id="290" r:id="rId4"/>
    <p:sldId id="292" r:id="rId5"/>
    <p:sldId id="291" r:id="rId6"/>
    <p:sldId id="288" r:id="rId7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102A6-F98F-48C7-9AF4-68940EB5B3D9}" v="4" dt="2026-02-03T12:19:17.9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87" autoAdjust="0"/>
    <p:restoredTop sz="95033" autoAdjust="0"/>
  </p:normalViewPr>
  <p:slideViewPr>
    <p:cSldViewPr>
      <p:cViewPr varScale="1">
        <p:scale>
          <a:sx n="113" d="100"/>
          <a:sy n="113" d="100"/>
        </p:scale>
        <p:origin x="106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delSld modSld">
      <pc:chgData name="Christian Camilo Cano Vasquez" userId="8c73a2a4-758b-4e34-81ed-39462e48bd92" providerId="ADAL" clId="{E6287060-0277-4BCC-9556-78F4A9113EC4}" dt="2026-02-03T12:19:54.710" v="164" actId="113"/>
      <pc:docMkLst>
        <pc:docMk/>
      </pc:docMkLst>
      <pc:sldChg chg="modSp mod">
        <pc:chgData name="Christian Camilo Cano Vasquez" userId="8c73a2a4-758b-4e34-81ed-39462e48bd92" providerId="ADAL" clId="{E6287060-0277-4BCC-9556-78F4A9113EC4}" dt="2026-02-03T12:19:54.710" v="164" actId="113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E6287060-0277-4BCC-9556-78F4A9113EC4}" dt="2026-02-03T12:19:54.710" v="164" actId="113"/>
          <ac:spMkLst>
            <pc:docMk/>
            <pc:sldMk cId="560234623" sldId="289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03T12:15:41.104" v="0" actId="47"/>
        <pc:sldMkLst>
          <pc:docMk/>
          <pc:sldMk cId="2900117438" sldId="2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02/03/2026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0.1. </a:t>
            </a:r>
            <a:r>
              <a:rPr lang="es-ES" sz="3200" b="1" dirty="0" err="1">
                <a:latin typeface="Lucida Sans"/>
                <a:cs typeface="Lucida Sans"/>
              </a:rPr>
              <a:t>ModeSolver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Sergi </a:t>
            </a:r>
            <a:r>
              <a:rPr lang="es-ES" spc="165" dirty="0" err="1">
                <a:latin typeface="Arial"/>
                <a:cs typeface="Arial"/>
              </a:rPr>
              <a:t>Nàcher</a:t>
            </a:r>
            <a:r>
              <a:rPr lang="es-ES" spc="165" dirty="0">
                <a:latin typeface="Arial"/>
                <a:cs typeface="Arial"/>
              </a:rPr>
              <a:t> Muñoz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010_MODESOLVER_Student.ipynb </a:t>
            </a:r>
          </a:p>
          <a:p>
            <a:pPr algn="just"/>
            <a:r>
              <a:rPr lang="en-US" b="1" kern="0" dirty="0">
                <a:solidFill>
                  <a:sysClr val="windowText" lastClr="000000"/>
                </a:solidFill>
              </a:rPr>
              <a:t>INSTRUCTIONS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We are going to work with different </a:t>
            </a:r>
            <a:r>
              <a:rPr lang="en-US" b="1" i="1" dirty="0"/>
              <a:t>Cross-Sections. </a:t>
            </a:r>
            <a:r>
              <a:rPr lang="en-US" dirty="0"/>
              <a:t>In general, we will need: </a:t>
            </a:r>
            <a:r>
              <a:rPr lang="en-US" b="1" i="1" dirty="0"/>
              <a:t>Materials</a:t>
            </a:r>
            <a:r>
              <a:rPr lang="en-US" dirty="0"/>
              <a:t> definitions and the </a:t>
            </a:r>
            <a:r>
              <a:rPr lang="en-US" b="1" dirty="0"/>
              <a:t>Geometrical</a:t>
            </a:r>
            <a:r>
              <a:rPr lang="en-US" dirty="0"/>
              <a:t> parameters of each Cross-section</a:t>
            </a:r>
            <a:r>
              <a:rPr lang="en-US" b="1" i="1" dirty="0"/>
              <a:t>.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B99085AB-5BCA-5571-FA65-E3617707DBFA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17590B25-6ABE-9620-2C63-B4856DDBCE5D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12191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">
            <a:extLst>
              <a:ext uri="{FF2B5EF4-FFF2-40B4-BE49-F238E27FC236}">
                <a16:creationId xmlns:a16="http://schemas.microsoft.com/office/drawing/2014/main" id="{854026DA-C7BC-391A-30F9-BF8D7187210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1322832" y="0"/>
                </a:moveTo>
                <a:lnTo>
                  <a:pt x="769493" y="0"/>
                </a:lnTo>
                <a:lnTo>
                  <a:pt x="0" y="594359"/>
                </a:lnTo>
                <a:lnTo>
                  <a:pt x="553338" y="594359"/>
                </a:lnTo>
                <a:lnTo>
                  <a:pt x="1322832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10">
            <a:extLst>
              <a:ext uri="{FF2B5EF4-FFF2-40B4-BE49-F238E27FC236}">
                <a16:creationId xmlns:a16="http://schemas.microsoft.com/office/drawing/2014/main" id="{68F18FA1-D512-5553-8E16-C81F17B1FD4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0" y="594359"/>
                </a:moveTo>
                <a:lnTo>
                  <a:pt x="769493" y="0"/>
                </a:lnTo>
                <a:lnTo>
                  <a:pt x="1322832" y="0"/>
                </a:lnTo>
                <a:lnTo>
                  <a:pt x="553338" y="594359"/>
                </a:lnTo>
                <a:lnTo>
                  <a:pt x="0" y="594359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1">
            <a:extLst>
              <a:ext uri="{FF2B5EF4-FFF2-40B4-BE49-F238E27FC236}">
                <a16:creationId xmlns:a16="http://schemas.microsoft.com/office/drawing/2014/main" id="{B6F403B3-198D-766C-7FF5-06096D396DAF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B4F33324-81A2-6D30-47DD-7A67FD038073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E5CE242A-CD6F-B6AA-8CF8-3F65AA839201}"/>
              </a:ext>
            </a:extLst>
          </p:cNvPr>
          <p:cNvSpPr/>
          <p:nvPr/>
        </p:nvSpPr>
        <p:spPr>
          <a:xfrm>
            <a:off x="659898" y="4205582"/>
            <a:ext cx="1858010" cy="1065530"/>
          </a:xfrm>
          <a:custGeom>
            <a:avLst/>
            <a:gdLst/>
            <a:ahLst/>
            <a:cxnLst/>
            <a:rect l="l" t="t" r="r" b="b"/>
            <a:pathLst>
              <a:path w="1858009" h="1065530">
                <a:moveTo>
                  <a:pt x="0" y="1065276"/>
                </a:moveTo>
                <a:lnTo>
                  <a:pt x="1857755" y="1065276"/>
                </a:lnTo>
                <a:lnTo>
                  <a:pt x="1857755" y="0"/>
                </a:lnTo>
                <a:lnTo>
                  <a:pt x="0" y="0"/>
                </a:lnTo>
                <a:lnTo>
                  <a:pt x="0" y="1065276"/>
                </a:lnTo>
                <a:close/>
              </a:path>
            </a:pathLst>
          </a:custGeom>
          <a:solidFill>
            <a:srgbClr val="7E7E7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E00C02E3-A945-AC3C-8DDF-4BF7E88C3196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9">
            <a:extLst>
              <a:ext uri="{FF2B5EF4-FFF2-40B4-BE49-F238E27FC236}">
                <a16:creationId xmlns:a16="http://schemas.microsoft.com/office/drawing/2014/main" id="{0ED35790-2683-BB1F-331A-34862F355D64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0">
            <a:extLst>
              <a:ext uri="{FF2B5EF4-FFF2-40B4-BE49-F238E27FC236}">
                <a16:creationId xmlns:a16="http://schemas.microsoft.com/office/drawing/2014/main" id="{C74C0B99-9868-5B85-03B4-95E6CF78D9A3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1324356" y="0"/>
                </a:moveTo>
                <a:lnTo>
                  <a:pt x="769493" y="0"/>
                </a:lnTo>
                <a:lnTo>
                  <a:pt x="0" y="594360"/>
                </a:lnTo>
                <a:lnTo>
                  <a:pt x="554863" y="594360"/>
                </a:lnTo>
                <a:lnTo>
                  <a:pt x="1324356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21">
            <a:extLst>
              <a:ext uri="{FF2B5EF4-FFF2-40B4-BE49-F238E27FC236}">
                <a16:creationId xmlns:a16="http://schemas.microsoft.com/office/drawing/2014/main" id="{0D0A668E-1248-C952-0D69-9AC115F5AEBD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0" y="594360"/>
                </a:moveTo>
                <a:lnTo>
                  <a:pt x="769493" y="0"/>
                </a:lnTo>
                <a:lnTo>
                  <a:pt x="1324356" y="0"/>
                </a:lnTo>
                <a:lnTo>
                  <a:pt x="554863" y="594360"/>
                </a:lnTo>
                <a:lnTo>
                  <a:pt x="0" y="59436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22">
            <a:extLst>
              <a:ext uri="{FF2B5EF4-FFF2-40B4-BE49-F238E27FC236}">
                <a16:creationId xmlns:a16="http://schemas.microsoft.com/office/drawing/2014/main" id="{9D87B857-066A-6AC9-C60A-5A69ADC38AAB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23">
            <a:extLst>
              <a:ext uri="{FF2B5EF4-FFF2-40B4-BE49-F238E27FC236}">
                <a16:creationId xmlns:a16="http://schemas.microsoft.com/office/drawing/2014/main" id="{218D47D4-6432-730D-48B9-7A6C6E31E473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33">
            <a:extLst>
              <a:ext uri="{FF2B5EF4-FFF2-40B4-BE49-F238E27FC236}">
                <a16:creationId xmlns:a16="http://schemas.microsoft.com/office/drawing/2014/main" id="{1ADEEC13-CD1C-B10C-519D-C80EDB6B6995}"/>
              </a:ext>
            </a:extLst>
          </p:cNvPr>
          <p:cNvSpPr txBox="1"/>
          <p:nvPr/>
        </p:nvSpPr>
        <p:spPr>
          <a:xfrm>
            <a:off x="1438790" y="5254855"/>
            <a:ext cx="1066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XY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Cross-section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321375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4058049" y="4276669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3402119" y="4503822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429579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481573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429579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629497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3" name="Flecha: a la derecha 102">
            <a:extLst>
              <a:ext uri="{FF2B5EF4-FFF2-40B4-BE49-F238E27FC236}">
                <a16:creationId xmlns:a16="http://schemas.microsoft.com/office/drawing/2014/main" id="{9104F8E7-45F4-CD32-78F2-E3303B105AF2}"/>
              </a:ext>
            </a:extLst>
          </p:cNvPr>
          <p:cNvSpPr/>
          <p:nvPr/>
        </p:nvSpPr>
        <p:spPr>
          <a:xfrm>
            <a:off x="2652837" y="4587205"/>
            <a:ext cx="390281" cy="177451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74927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83131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935125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83131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83049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749273" y="4983731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933783" y="4287133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591080" y="4982122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709867" y="5180039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9064251" y="4282997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567382" y="5549983"/>
            <a:ext cx="2174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()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5280886" y="5549983"/>
            <a:ext cx="24046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 (strip)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(neff …)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of different modes, comparison between different polarizations…)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3F3B83-8AE9-4086-925C-01535FA22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615553"/>
          </a:xfrm>
        </p:spPr>
        <p:txBody>
          <a:bodyPr/>
          <a:lstStyle/>
          <a:p>
            <a:r>
              <a:rPr lang="en-US" sz="2000" dirty="0"/>
              <a:t>Learning outcome #1 – Effective index of a waveguide</a:t>
            </a:r>
            <a:br>
              <a:rPr lang="es-ES" sz="2000" spc="-5" dirty="0">
                <a:latin typeface="+mj-lt"/>
                <a:cs typeface="Lucida Sans"/>
              </a:rPr>
            </a:b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0FC1E5-A8C4-4616-B0CE-408D93AAA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067" y="1313821"/>
            <a:ext cx="10744200" cy="553998"/>
          </a:xfrm>
        </p:spPr>
        <p:txBody>
          <a:bodyPr/>
          <a:lstStyle/>
          <a:p>
            <a:r>
              <a:rPr lang="es-ES" sz="1200" dirty="0"/>
              <a:t>Podemos observar que hay 3 modos que se propagan. El índice efectivo de la cuarta componente es inferior al índice efectivo del </a:t>
            </a:r>
            <a:r>
              <a:rPr lang="es-ES" sz="1200" dirty="0" err="1"/>
              <a:t>cladding</a:t>
            </a:r>
            <a:r>
              <a:rPr lang="es-ES" sz="1200" dirty="0"/>
              <a:t> (1.44), por lo que ese modo no se propagará.</a:t>
            </a:r>
          </a:p>
          <a:p>
            <a:endParaRPr lang="es-ES" sz="1200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3AF6718-937C-48A5-BA90-0EC438DB430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3FCF10C-59B4-4245-8DAF-1DC825C1094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45C5713-9FF8-4F24-B3A1-01DBDE5BF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781079"/>
            <a:ext cx="3505200" cy="36119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4C2F61D6-3BA7-4913-A71A-F598C2037723}"/>
              </a:ext>
            </a:extLst>
          </p:cNvPr>
          <p:cNvSpPr txBox="1"/>
          <p:nvPr/>
        </p:nvSpPr>
        <p:spPr>
          <a:xfrm>
            <a:off x="3712211" y="2316855"/>
            <a:ext cx="6125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dirty="0"/>
              <a:t>Los modos 0 y 2 corresponden a modos TE y los modos 1 y 3 a modos TM.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21517BF-BA73-4A65-81AF-02FB13FB8A2B}"/>
              </a:ext>
            </a:extLst>
          </p:cNvPr>
          <p:cNvSpPr txBox="1"/>
          <p:nvPr/>
        </p:nvSpPr>
        <p:spPr>
          <a:xfrm>
            <a:off x="533400" y="815984"/>
            <a:ext cx="4210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Índice efectivo de los cuatro primeros modos: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5DB2889D-FF9E-433F-AB28-83223F649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746" y="1821658"/>
            <a:ext cx="2590121" cy="126052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C5F2DA8-2FDA-4ABD-B3FE-58B77A57A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555" y="3088196"/>
            <a:ext cx="2447924" cy="164747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0802046A-6161-487D-918F-CEADD8B5C0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0964" y="3042890"/>
            <a:ext cx="2447925" cy="164747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6FBA303D-2A6B-4166-B4D6-0145C2D99C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085" y="4901911"/>
            <a:ext cx="2448394" cy="1647479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B651E258-1CFD-43D3-949B-1FE4691264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9878" y="4919262"/>
            <a:ext cx="2332389" cy="1537795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F69B31BD-4171-4303-829D-1134EE10B9F0}"/>
              </a:ext>
            </a:extLst>
          </p:cNvPr>
          <p:cNvSpPr txBox="1"/>
          <p:nvPr/>
        </p:nvSpPr>
        <p:spPr>
          <a:xfrm>
            <a:off x="607483" y="5043379"/>
            <a:ext cx="2762250" cy="1143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9787E3E-0762-421A-809A-3021A06058B1}"/>
              </a:ext>
            </a:extLst>
          </p:cNvPr>
          <p:cNvSpPr txBox="1"/>
          <p:nvPr/>
        </p:nvSpPr>
        <p:spPr>
          <a:xfrm>
            <a:off x="590550" y="3429000"/>
            <a:ext cx="27622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Modo 0 (TE).</a:t>
            </a:r>
          </a:p>
        </p:txBody>
      </p:sp>
    </p:spTree>
    <p:extLst>
      <p:ext uri="{BB962C8B-B14F-4D97-AF65-F5344CB8AC3E}">
        <p14:creationId xmlns:p14="http://schemas.microsoft.com/office/powerpoint/2010/main" val="613648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0.02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165" y="6156884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609759" y="6257884"/>
            <a:ext cx="2743200" cy="184666"/>
          </a:xfrm>
        </p:spPr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09600" y="4661161"/>
            <a:ext cx="11199971" cy="212365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Comment results (neff changes this way with wavelength, comparison between different waveguide cross-sections …)</a:t>
            </a:r>
          </a:p>
          <a:p>
            <a:pPr algn="just"/>
            <a:endParaRPr lang="es-ES_tradnl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En primer lugar, podemos observar en ambas gráficas que el índice efectivo disminuye a medida que aumenta la longitud de onda para todos los modos. Esto ocurre porque, a mayores longitudes de onda, el modo óptico aumenta su tamaño y pierde confinamiento en el núcleo. Al estar menos confinado, una mayor fracción del campo electromagnético penetra y viaja por el </a:t>
            </a:r>
            <a:r>
              <a:rPr lang="es-ES_tradnl" sz="1100" dirty="0" err="1">
                <a:latin typeface="Arial" panose="020B0604020202020204" pitchFamily="34" charset="0"/>
                <a:cs typeface="Arial" panose="020B0604020202020204" pitchFamily="34" charset="0"/>
              </a:rPr>
              <a:t>cladding</a:t>
            </a:r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 (SiO2), el cual tiene un índice de refracción menor, haciendo que el índice efectivo global del modo decaiga.</a:t>
            </a:r>
          </a:p>
          <a:p>
            <a:pPr algn="just"/>
            <a:endParaRPr lang="es-ES_tradnl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Por otra parte, podemos observar que para el caso de la </a:t>
            </a:r>
            <a:r>
              <a:rPr lang="es-ES_tradnl" sz="1100" dirty="0" err="1">
                <a:latin typeface="Arial" panose="020B0604020202020204" pitchFamily="34" charset="0"/>
                <a:cs typeface="Arial" panose="020B0604020202020204" pitchFamily="34" charset="0"/>
              </a:rPr>
              <a:t>shallow</a:t>
            </a:r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100" dirty="0" err="1">
                <a:latin typeface="Arial" panose="020B0604020202020204" pitchFamily="34" charset="0"/>
                <a:cs typeface="Arial" panose="020B0604020202020204" pitchFamily="34" charset="0"/>
              </a:rPr>
              <a:t>waveguide</a:t>
            </a:r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 hay una propagación de los 4 modos analizados, ya que tienen un índice efectivo mayor al índice efectivo del </a:t>
            </a:r>
            <a:r>
              <a:rPr lang="es-ES_tradnl" sz="1100" dirty="0" err="1">
                <a:latin typeface="Arial" panose="020B0604020202020204" pitchFamily="34" charset="0"/>
                <a:cs typeface="Arial" panose="020B0604020202020204" pitchFamily="34" charset="0"/>
              </a:rPr>
              <a:t>cladding</a:t>
            </a:r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. Esto se debe a que tiene un mayor espacio la guía y se pueden propagar modos de orden mayor.</a:t>
            </a:r>
          </a:p>
          <a:p>
            <a:pPr algn="just"/>
            <a:endParaRPr lang="es-ES_tradnl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En el caso de la </a:t>
            </a:r>
            <a:r>
              <a:rPr lang="es-ES_tradnl" sz="1100" dirty="0" err="1">
                <a:latin typeface="Arial" panose="020B0604020202020204" pitchFamily="34" charset="0"/>
                <a:cs typeface="Arial" panose="020B0604020202020204" pitchFamily="34" charset="0"/>
              </a:rPr>
              <a:t>deep</a:t>
            </a:r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_tradnl" sz="1100" dirty="0" err="1">
                <a:latin typeface="Arial" panose="020B0604020202020204" pitchFamily="34" charset="0"/>
                <a:cs typeface="Arial" panose="020B0604020202020204" pitchFamily="34" charset="0"/>
              </a:rPr>
              <a:t>waveguide</a:t>
            </a:r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 se puede </a:t>
            </a:r>
            <a:r>
              <a:rPr lang="es-ES_tradnl" sz="1100" dirty="0" err="1">
                <a:latin typeface="Arial" panose="020B0604020202020204" pitchFamily="34" charset="0"/>
                <a:cs typeface="Arial" panose="020B0604020202020204" pitchFamily="34" charset="0"/>
              </a:rPr>
              <a:t>observer</a:t>
            </a:r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 que hay dos modos que no se propagan, los correspondientes al índice 2 y 3 de la solución, los cuales corresponden a los modos de orden mayor. Esto es debido a que sus índices efectivos son inferiores a los del </a:t>
            </a:r>
            <a:r>
              <a:rPr lang="es-ES_tradnl" sz="1100" dirty="0" err="1">
                <a:latin typeface="Arial" panose="020B0604020202020204" pitchFamily="34" charset="0"/>
                <a:cs typeface="Arial" panose="020B0604020202020204" pitchFamily="34" charset="0"/>
              </a:rPr>
              <a:t>cladding</a:t>
            </a:r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, lo cual hace que </a:t>
            </a:r>
            <a:r>
              <a:rPr lang="es-ES_tradnl" sz="1100" dirty="0" err="1">
                <a:latin typeface="Arial" panose="020B0604020202020204" pitchFamily="34" charset="0"/>
                <a:cs typeface="Arial" panose="020B0604020202020204" pitchFamily="34" charset="0"/>
              </a:rPr>
              <a:t>esten</a:t>
            </a:r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 en corte. Solo los modos de orden inferior (0 y 1), al tener un índice efectivo mayor, se propagarán adecuadamente al estar más confinados dentro del </a:t>
            </a:r>
            <a:r>
              <a:rPr lang="es-ES_tradnl" sz="1100" dirty="0" err="1"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lang="es-ES_tradnl" sz="11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600" y="1219200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4E7A47-20E2-3C27-D841-5A665642F6E2}"/>
              </a:ext>
            </a:extLst>
          </p:cNvPr>
          <p:cNvSpPr txBox="1"/>
          <p:nvPr/>
        </p:nvSpPr>
        <p:spPr>
          <a:xfrm>
            <a:off x="2284524" y="2472105"/>
            <a:ext cx="19827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Plot </a:t>
            </a:r>
            <a:r>
              <a:rPr lang="en-US" dirty="0" err="1"/>
              <a:t>neff</a:t>
            </a:r>
            <a:r>
              <a:rPr lang="en-US" dirty="0"/>
              <a:t> vs lambda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7000" y="1219200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9C65D4-5494-F5CE-1094-CB0A32C33876}"/>
              </a:ext>
            </a:extLst>
          </p:cNvPr>
          <p:cNvSpPr txBox="1"/>
          <p:nvPr/>
        </p:nvSpPr>
        <p:spPr>
          <a:xfrm>
            <a:off x="8151925" y="2472105"/>
            <a:ext cx="198272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Plot </a:t>
            </a:r>
            <a:r>
              <a:rPr lang="en-US" dirty="0" err="1"/>
              <a:t>neff</a:t>
            </a:r>
            <a:r>
              <a:rPr lang="en-US" dirty="0"/>
              <a:t> vs lambda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643148" y="4203712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slab = 150nm</a:t>
            </a:r>
            <a:endParaRPr lang="es-ES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442DA1B-EA25-434D-A064-66155EFDD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3550" y="1404036"/>
            <a:ext cx="5033752" cy="293635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130CD49-47AC-42AC-98EF-76BD14EA4B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360" y="1317953"/>
            <a:ext cx="5080000" cy="296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731</TotalTime>
  <Words>637</Words>
  <Application>Microsoft Office PowerPoint</Application>
  <PresentationFormat>Panorámica</PresentationFormat>
  <Paragraphs>78</Paragraphs>
  <Slides>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Lucida Sans</vt:lpstr>
      <vt:lpstr>Times New Roman</vt:lpstr>
      <vt:lpstr>Office Theme</vt:lpstr>
      <vt:lpstr>Presentación de PowerPoint</vt:lpstr>
      <vt:lpstr>Instructions General</vt:lpstr>
      <vt:lpstr>Learning outcome #1 – Effective index of a waveguide </vt:lpstr>
      <vt:lpstr>Learning outcome #1 – Effective index of a waveguide </vt:lpstr>
      <vt:lpstr>Learning outcome #2 – Wavelength behavior Wavelength 1.5-1.6 µm (step 0.02 µm) – width 1.2 µm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cfp</cp:lastModifiedBy>
  <cp:revision>14</cp:revision>
  <dcterms:created xsi:type="dcterms:W3CDTF">2025-01-27T02:46:57Z</dcterms:created>
  <dcterms:modified xsi:type="dcterms:W3CDTF">2026-03-02T19:28:01Z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