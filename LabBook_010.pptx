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8"/>
  </p:notesMasterIdLst>
  <p:handoutMasterIdLst>
    <p:handoutMasterId r:id="rId9"/>
  </p:handoutMasterIdLst>
  <p:sldIdLst>
    <p:sldId id="256" r:id="rId2"/>
    <p:sldId id="289" r:id="rId3"/>
    <p:sldId id="290" r:id="rId4"/>
    <p:sldId id="292" r:id="rId5"/>
    <p:sldId id="291" r:id="rId6"/>
    <p:sldId id="288" r:id="rId7"/>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D3102A6-F98F-48C7-9AF4-68940EB5B3D9}" v="4" dt="2026-02-03T12:19:17.949"/>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5298" autoAdjust="0"/>
    <p:restoredTop sz="95033" autoAdjust="0"/>
  </p:normalViewPr>
  <p:slideViewPr>
    <p:cSldViewPr>
      <p:cViewPr varScale="1">
        <p:scale>
          <a:sx n="127" d="100"/>
          <a:sy n="127" d="100"/>
        </p:scale>
        <p:origin x="1192" y="192"/>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5" Type="http://schemas.microsoft.com/office/2015/10/relationships/revisionInfo" Target="revisionInfo.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handoutMaster" Target="handoutMasters/handoutMaster1.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E6287060-0277-4BCC-9556-78F4A9113EC4}"/>
    <pc:docChg chg="delSld modSld">
      <pc:chgData name="Christian Camilo Cano Vasquez" userId="8c73a2a4-758b-4e34-81ed-39462e48bd92" providerId="ADAL" clId="{E6287060-0277-4BCC-9556-78F4A9113EC4}" dt="2026-02-03T12:19:54.710" v="164" actId="113"/>
      <pc:docMkLst>
        <pc:docMk/>
      </pc:docMkLst>
      <pc:sldChg chg="modSp mod">
        <pc:chgData name="Christian Camilo Cano Vasquez" userId="8c73a2a4-758b-4e34-81ed-39462e48bd92" providerId="ADAL" clId="{E6287060-0277-4BCC-9556-78F4A9113EC4}" dt="2026-02-03T12:19:54.710" v="164" actId="113"/>
        <pc:sldMkLst>
          <pc:docMk/>
          <pc:sldMk cId="560234623" sldId="289"/>
        </pc:sldMkLst>
        <pc:spChg chg="mod">
          <ac:chgData name="Christian Camilo Cano Vasquez" userId="8c73a2a4-758b-4e34-81ed-39462e48bd92" providerId="ADAL" clId="{E6287060-0277-4BCC-9556-78F4A9113EC4}" dt="2026-02-03T12:19:54.710" v="164" actId="113"/>
          <ac:spMkLst>
            <pc:docMk/>
            <pc:sldMk cId="560234623" sldId="289"/>
            <ac:spMk id="4" creationId="{9F7BC140-B3D8-C3CB-55AD-9064C7CDE9CA}"/>
          </ac:spMkLst>
        </pc:spChg>
      </pc:sldChg>
      <pc:sldChg chg="del">
        <pc:chgData name="Christian Camilo Cano Vasquez" userId="8c73a2a4-758b-4e34-81ed-39462e48bd92" providerId="ADAL" clId="{E6287060-0277-4BCC-9556-78F4A9113EC4}" dt="2026-02-03T12:15:41.104" v="0" actId="47"/>
        <pc:sldMkLst>
          <pc:docMk/>
          <pc:sldMk cId="2900117438" sldId="292"/>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2/3/26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2/3/26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18329614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0.1. MODESOLVER</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0.1. MODESOLVER</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0.1. MODESOLVER</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0.1. MODESOLVER</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hyperlink" Target="https://github.com/cccanvas-upv/pic-upv-lab0.git"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0.1. </a:t>
            </a:r>
            <a:r>
              <a:rPr lang="es-ES" sz="3200" b="1" dirty="0" err="1">
                <a:latin typeface="Lucida Sans"/>
                <a:cs typeface="Lucida Sans"/>
              </a:rPr>
              <a:t>ModeSolver</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Sergi </a:t>
            </a:r>
            <a:r>
              <a:rPr lang="es-ES" spc="165" dirty="0" err="1">
                <a:latin typeface="Arial"/>
                <a:cs typeface="Arial"/>
              </a:rPr>
              <a:t>Nàcher</a:t>
            </a:r>
            <a:r>
              <a:rPr lang="es-ES" spc="165" dirty="0">
                <a:latin typeface="Arial"/>
                <a:cs typeface="Arial"/>
              </a:rPr>
              <a:t> Muñoz</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dirty="0"/>
              <a:t>LAB 0.1. MODESOLVER</a:t>
            </a:r>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a:t>
            </a:r>
            <a:r>
              <a:rPr lang="en-US" kern="0" dirty="0">
                <a:solidFill>
                  <a:sysClr val="windowText" lastClr="000000"/>
                </a:solidFill>
                <a:sym typeface="Wingdings" pitchFamily="2" charset="2"/>
                <a:hlinkClick r:id="rId4"/>
              </a:rPr>
              <a:t>https://github.com/cccanvas-upv/pic-upv-lab0.git</a:t>
            </a:r>
            <a:endParaRPr lang="en-US" kern="0" dirty="0">
              <a:solidFill>
                <a:sysClr val="windowText" lastClr="000000"/>
              </a:solidFill>
              <a:sym typeface="Wingdings" pitchFamily="2" charset="2"/>
            </a:endParaRP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a:solidFill>
                  <a:sysClr val="windowText" lastClr="000000"/>
                </a:solidFill>
              </a:rPr>
              <a:t>010_MODESOLVER_Student.ipynb </a:t>
            </a:r>
          </a:p>
          <a:p>
            <a:pPr algn="just"/>
            <a:r>
              <a:rPr lang="en-US" b="1" kern="0" dirty="0">
                <a:solidFill>
                  <a:sysClr val="windowText" lastClr="000000"/>
                </a:solidFill>
              </a:rPr>
              <a:t>INSTRUCTIONS</a:t>
            </a:r>
          </a:p>
          <a:p>
            <a:pPr marL="342900" indent="-342900" algn="just">
              <a:buFont typeface="Arial" panose="020B0604020202020204" pitchFamily="34" charset="0"/>
              <a:buChar char="•"/>
            </a:pPr>
            <a:r>
              <a:rPr lang="en-US" dirty="0"/>
              <a:t>We are going to work with different </a:t>
            </a:r>
            <a:r>
              <a:rPr lang="en-US" b="1" i="1" dirty="0"/>
              <a:t>Cross-Sections. </a:t>
            </a:r>
            <a:r>
              <a:rPr lang="en-US" dirty="0"/>
              <a:t>In general, we will need: </a:t>
            </a:r>
            <a:r>
              <a:rPr lang="en-US" b="1" i="1" dirty="0"/>
              <a:t>Materials</a:t>
            </a:r>
            <a:r>
              <a:rPr lang="en-US" dirty="0"/>
              <a:t> definitions and the </a:t>
            </a:r>
            <a:r>
              <a:rPr lang="en-US" b="1" dirty="0"/>
              <a:t>Geometrical</a:t>
            </a:r>
            <a:r>
              <a:rPr lang="en-US" dirty="0"/>
              <a:t> parameters of each Cross-section</a:t>
            </a:r>
            <a:r>
              <a:rPr lang="en-US" b="1" i="1" dirty="0"/>
              <a:t>.</a:t>
            </a:r>
          </a:p>
          <a:p>
            <a:pPr algn="just"/>
            <a:endParaRPr lang="en-US" sz="2000" b="1" i="1" dirty="0"/>
          </a:p>
          <a:p>
            <a:pPr algn="just"/>
            <a:endParaRPr lang="en-US" sz="2000" kern="0" dirty="0">
              <a:solidFill>
                <a:sysClr val="windowText" lastClr="000000"/>
              </a:solidFill>
            </a:endParaRPr>
          </a:p>
        </p:txBody>
      </p:sp>
      <p:sp>
        <p:nvSpPr>
          <p:cNvPr id="5" name="object 7">
            <a:extLst>
              <a:ext uri="{FF2B5EF4-FFF2-40B4-BE49-F238E27FC236}">
                <a16:creationId xmlns:a16="http://schemas.microsoft.com/office/drawing/2014/main" id="{B99085AB-5BCA-5571-FA65-E3617707DBFA}"/>
              </a:ext>
            </a:extLst>
          </p:cNvPr>
          <p:cNvSpPr/>
          <p:nvPr/>
        </p:nvSpPr>
        <p:spPr>
          <a:xfrm>
            <a:off x="1245115" y="4499713"/>
            <a:ext cx="544195" cy="344805"/>
          </a:xfrm>
          <a:custGeom>
            <a:avLst/>
            <a:gdLst/>
            <a:ahLst/>
            <a:cxnLst/>
            <a:rect l="l" t="t" r="r" b="b"/>
            <a:pathLst>
              <a:path w="544195" h="344805">
                <a:moveTo>
                  <a:pt x="0" y="344424"/>
                </a:moveTo>
                <a:lnTo>
                  <a:pt x="544067" y="344424"/>
                </a:lnTo>
                <a:lnTo>
                  <a:pt x="544067" y="0"/>
                </a:lnTo>
                <a:lnTo>
                  <a:pt x="0" y="0"/>
                </a:lnTo>
                <a:lnTo>
                  <a:pt x="0" y="344424"/>
                </a:lnTo>
                <a:close/>
              </a:path>
            </a:pathLst>
          </a:custGeom>
          <a:solidFill>
            <a:srgbClr val="CCB657"/>
          </a:solidFill>
        </p:spPr>
        <p:txBody>
          <a:bodyPr wrap="square" lIns="0" tIns="0" rIns="0" bIns="0" rtlCol="0"/>
          <a:lstStyle/>
          <a:p>
            <a:endParaRPr/>
          </a:p>
        </p:txBody>
      </p:sp>
      <p:sp>
        <p:nvSpPr>
          <p:cNvPr id="6" name="object 8">
            <a:extLst>
              <a:ext uri="{FF2B5EF4-FFF2-40B4-BE49-F238E27FC236}">
                <a16:creationId xmlns:a16="http://schemas.microsoft.com/office/drawing/2014/main" id="{17590B25-6ABE-9620-2C63-B4856DDBCE5D}"/>
              </a:ext>
            </a:extLst>
          </p:cNvPr>
          <p:cNvSpPr/>
          <p:nvPr/>
        </p:nvSpPr>
        <p:spPr>
          <a:xfrm>
            <a:off x="1245115" y="4499713"/>
            <a:ext cx="544195" cy="344805"/>
          </a:xfrm>
          <a:custGeom>
            <a:avLst/>
            <a:gdLst/>
            <a:ahLst/>
            <a:cxnLst/>
            <a:rect l="l" t="t" r="r" b="b"/>
            <a:pathLst>
              <a:path w="544195" h="344805">
                <a:moveTo>
                  <a:pt x="0" y="344424"/>
                </a:moveTo>
                <a:lnTo>
                  <a:pt x="544067" y="344424"/>
                </a:lnTo>
                <a:lnTo>
                  <a:pt x="544067" y="0"/>
                </a:lnTo>
                <a:lnTo>
                  <a:pt x="0" y="0"/>
                </a:lnTo>
                <a:lnTo>
                  <a:pt x="0" y="344424"/>
                </a:lnTo>
                <a:close/>
              </a:path>
            </a:pathLst>
          </a:custGeom>
          <a:ln w="12191">
            <a:solidFill>
              <a:srgbClr val="6F6021"/>
            </a:solidFill>
          </a:ln>
        </p:spPr>
        <p:txBody>
          <a:bodyPr wrap="square" lIns="0" tIns="0" rIns="0" bIns="0" rtlCol="0"/>
          <a:lstStyle/>
          <a:p>
            <a:endParaRPr/>
          </a:p>
        </p:txBody>
      </p:sp>
      <p:sp>
        <p:nvSpPr>
          <p:cNvPr id="80" name="object 9">
            <a:extLst>
              <a:ext uri="{FF2B5EF4-FFF2-40B4-BE49-F238E27FC236}">
                <a16:creationId xmlns:a16="http://schemas.microsoft.com/office/drawing/2014/main" id="{854026DA-C7BC-391A-30F9-BF8D7187210E}"/>
              </a:ext>
            </a:extLst>
          </p:cNvPr>
          <p:cNvSpPr/>
          <p:nvPr/>
        </p:nvSpPr>
        <p:spPr>
          <a:xfrm>
            <a:off x="1245115" y="3905354"/>
            <a:ext cx="1323340" cy="594360"/>
          </a:xfrm>
          <a:custGeom>
            <a:avLst/>
            <a:gdLst/>
            <a:ahLst/>
            <a:cxnLst/>
            <a:rect l="l" t="t" r="r" b="b"/>
            <a:pathLst>
              <a:path w="1323340" h="594360">
                <a:moveTo>
                  <a:pt x="1322832" y="0"/>
                </a:moveTo>
                <a:lnTo>
                  <a:pt x="769493" y="0"/>
                </a:lnTo>
                <a:lnTo>
                  <a:pt x="0" y="594359"/>
                </a:lnTo>
                <a:lnTo>
                  <a:pt x="553338" y="594359"/>
                </a:lnTo>
                <a:lnTo>
                  <a:pt x="1322832" y="0"/>
                </a:lnTo>
                <a:close/>
              </a:path>
            </a:pathLst>
          </a:custGeom>
          <a:solidFill>
            <a:srgbClr val="CCB657"/>
          </a:solidFill>
        </p:spPr>
        <p:txBody>
          <a:bodyPr wrap="square" lIns="0" tIns="0" rIns="0" bIns="0" rtlCol="0"/>
          <a:lstStyle/>
          <a:p>
            <a:endParaRPr/>
          </a:p>
        </p:txBody>
      </p:sp>
      <p:sp>
        <p:nvSpPr>
          <p:cNvPr id="85" name="object 10">
            <a:extLst>
              <a:ext uri="{FF2B5EF4-FFF2-40B4-BE49-F238E27FC236}">
                <a16:creationId xmlns:a16="http://schemas.microsoft.com/office/drawing/2014/main" id="{68F18FA1-D512-5553-8E16-C81F17B1FD4E}"/>
              </a:ext>
            </a:extLst>
          </p:cNvPr>
          <p:cNvSpPr/>
          <p:nvPr/>
        </p:nvSpPr>
        <p:spPr>
          <a:xfrm>
            <a:off x="1245115" y="3905354"/>
            <a:ext cx="1323340" cy="594360"/>
          </a:xfrm>
          <a:custGeom>
            <a:avLst/>
            <a:gdLst/>
            <a:ahLst/>
            <a:cxnLst/>
            <a:rect l="l" t="t" r="r" b="b"/>
            <a:pathLst>
              <a:path w="1323340" h="594360">
                <a:moveTo>
                  <a:pt x="0" y="594359"/>
                </a:moveTo>
                <a:lnTo>
                  <a:pt x="769493" y="0"/>
                </a:lnTo>
                <a:lnTo>
                  <a:pt x="1322832" y="0"/>
                </a:lnTo>
                <a:lnTo>
                  <a:pt x="553338" y="594359"/>
                </a:lnTo>
                <a:lnTo>
                  <a:pt x="0" y="594359"/>
                </a:lnTo>
                <a:close/>
              </a:path>
            </a:pathLst>
          </a:custGeom>
          <a:ln w="12192">
            <a:solidFill>
              <a:srgbClr val="6F6021"/>
            </a:solidFill>
          </a:ln>
        </p:spPr>
        <p:txBody>
          <a:bodyPr wrap="square" lIns="0" tIns="0" rIns="0" bIns="0" rtlCol="0"/>
          <a:lstStyle/>
          <a:p>
            <a:endParaRPr/>
          </a:p>
        </p:txBody>
      </p:sp>
      <p:sp>
        <p:nvSpPr>
          <p:cNvPr id="86" name="object 11">
            <a:extLst>
              <a:ext uri="{FF2B5EF4-FFF2-40B4-BE49-F238E27FC236}">
                <a16:creationId xmlns:a16="http://schemas.microsoft.com/office/drawing/2014/main" id="{B6F403B3-198D-766C-7FF5-06096D396DAF}"/>
              </a:ext>
            </a:extLst>
          </p:cNvPr>
          <p:cNvSpPr/>
          <p:nvPr/>
        </p:nvSpPr>
        <p:spPr>
          <a:xfrm>
            <a:off x="1789183" y="3905354"/>
            <a:ext cx="779145" cy="939165"/>
          </a:xfrm>
          <a:custGeom>
            <a:avLst/>
            <a:gdLst/>
            <a:ahLst/>
            <a:cxnLst/>
            <a:rect l="l" t="t" r="r" b="b"/>
            <a:pathLst>
              <a:path w="779145" h="939164">
                <a:moveTo>
                  <a:pt x="778763" y="0"/>
                </a:moveTo>
                <a:lnTo>
                  <a:pt x="0" y="593343"/>
                </a:lnTo>
                <a:lnTo>
                  <a:pt x="0" y="938783"/>
                </a:lnTo>
                <a:lnTo>
                  <a:pt x="778763" y="345439"/>
                </a:lnTo>
                <a:lnTo>
                  <a:pt x="778763" y="0"/>
                </a:lnTo>
                <a:close/>
              </a:path>
            </a:pathLst>
          </a:custGeom>
          <a:solidFill>
            <a:srgbClr val="CCB657"/>
          </a:solidFill>
        </p:spPr>
        <p:txBody>
          <a:bodyPr wrap="square" lIns="0" tIns="0" rIns="0" bIns="0" rtlCol="0"/>
          <a:lstStyle/>
          <a:p>
            <a:endParaRPr/>
          </a:p>
        </p:txBody>
      </p:sp>
      <p:sp>
        <p:nvSpPr>
          <p:cNvPr id="87" name="object 12">
            <a:extLst>
              <a:ext uri="{FF2B5EF4-FFF2-40B4-BE49-F238E27FC236}">
                <a16:creationId xmlns:a16="http://schemas.microsoft.com/office/drawing/2014/main" id="{B4F33324-81A2-6D30-47DD-7A67FD038073}"/>
              </a:ext>
            </a:extLst>
          </p:cNvPr>
          <p:cNvSpPr/>
          <p:nvPr/>
        </p:nvSpPr>
        <p:spPr>
          <a:xfrm>
            <a:off x="1789183" y="3905354"/>
            <a:ext cx="779145" cy="939165"/>
          </a:xfrm>
          <a:custGeom>
            <a:avLst/>
            <a:gdLst/>
            <a:ahLst/>
            <a:cxnLst/>
            <a:rect l="l" t="t" r="r" b="b"/>
            <a:pathLst>
              <a:path w="779145" h="939164">
                <a:moveTo>
                  <a:pt x="778763" y="0"/>
                </a:moveTo>
                <a:lnTo>
                  <a:pt x="0" y="593343"/>
                </a:lnTo>
                <a:lnTo>
                  <a:pt x="0" y="938783"/>
                </a:lnTo>
                <a:lnTo>
                  <a:pt x="778763" y="345439"/>
                </a:lnTo>
                <a:lnTo>
                  <a:pt x="778763" y="0"/>
                </a:lnTo>
                <a:close/>
              </a:path>
            </a:pathLst>
          </a:custGeom>
          <a:ln w="12192">
            <a:solidFill>
              <a:srgbClr val="6F6021"/>
            </a:solidFill>
          </a:ln>
        </p:spPr>
        <p:txBody>
          <a:bodyPr wrap="square" lIns="0" tIns="0" rIns="0" bIns="0" rtlCol="0"/>
          <a:lstStyle/>
          <a:p>
            <a:endParaRPr/>
          </a:p>
        </p:txBody>
      </p:sp>
      <p:sp>
        <p:nvSpPr>
          <p:cNvPr id="88" name="object 13">
            <a:extLst>
              <a:ext uri="{FF2B5EF4-FFF2-40B4-BE49-F238E27FC236}">
                <a16:creationId xmlns:a16="http://schemas.microsoft.com/office/drawing/2014/main" id="{E5CE242A-CD6F-B6AA-8CF8-3F65AA839201}"/>
              </a:ext>
            </a:extLst>
          </p:cNvPr>
          <p:cNvSpPr/>
          <p:nvPr/>
        </p:nvSpPr>
        <p:spPr>
          <a:xfrm>
            <a:off x="659898" y="4205582"/>
            <a:ext cx="1858010" cy="1065530"/>
          </a:xfrm>
          <a:custGeom>
            <a:avLst/>
            <a:gdLst/>
            <a:ahLst/>
            <a:cxnLst/>
            <a:rect l="l" t="t" r="r" b="b"/>
            <a:pathLst>
              <a:path w="1858009" h="1065530">
                <a:moveTo>
                  <a:pt x="0" y="1065276"/>
                </a:moveTo>
                <a:lnTo>
                  <a:pt x="1857755" y="1065276"/>
                </a:lnTo>
                <a:lnTo>
                  <a:pt x="1857755" y="0"/>
                </a:lnTo>
                <a:lnTo>
                  <a:pt x="0" y="0"/>
                </a:lnTo>
                <a:lnTo>
                  <a:pt x="0" y="1065276"/>
                </a:lnTo>
                <a:close/>
              </a:path>
            </a:pathLst>
          </a:custGeom>
          <a:solidFill>
            <a:srgbClr val="7E7E7E">
              <a:alpha val="36077"/>
            </a:srgbClr>
          </a:solidFill>
        </p:spPr>
        <p:txBody>
          <a:bodyPr wrap="square" lIns="0" tIns="0" rIns="0" bIns="0" rtlCol="0"/>
          <a:lstStyle/>
          <a:p>
            <a:endParaRPr/>
          </a:p>
        </p:txBody>
      </p:sp>
      <p:sp>
        <p:nvSpPr>
          <p:cNvPr id="89" name="object 18">
            <a:extLst>
              <a:ext uri="{FF2B5EF4-FFF2-40B4-BE49-F238E27FC236}">
                <a16:creationId xmlns:a16="http://schemas.microsoft.com/office/drawing/2014/main" id="{E00C02E3-A945-AC3C-8DDF-4BF7E88C3196}"/>
              </a:ext>
            </a:extLst>
          </p:cNvPr>
          <p:cNvSpPr/>
          <p:nvPr/>
        </p:nvSpPr>
        <p:spPr>
          <a:xfrm>
            <a:off x="458730" y="5106266"/>
            <a:ext cx="544195" cy="342900"/>
          </a:xfrm>
          <a:custGeom>
            <a:avLst/>
            <a:gdLst/>
            <a:ahLst/>
            <a:cxnLst/>
            <a:rect l="l" t="t" r="r" b="b"/>
            <a:pathLst>
              <a:path w="544195" h="342900">
                <a:moveTo>
                  <a:pt x="0" y="342900"/>
                </a:moveTo>
                <a:lnTo>
                  <a:pt x="544068" y="342900"/>
                </a:lnTo>
                <a:lnTo>
                  <a:pt x="544068" y="0"/>
                </a:lnTo>
                <a:lnTo>
                  <a:pt x="0" y="0"/>
                </a:lnTo>
                <a:lnTo>
                  <a:pt x="0" y="342900"/>
                </a:lnTo>
                <a:close/>
              </a:path>
            </a:pathLst>
          </a:custGeom>
          <a:solidFill>
            <a:srgbClr val="CCB657"/>
          </a:solidFill>
        </p:spPr>
        <p:txBody>
          <a:bodyPr wrap="square" lIns="0" tIns="0" rIns="0" bIns="0" rtlCol="0"/>
          <a:lstStyle/>
          <a:p>
            <a:endParaRPr/>
          </a:p>
        </p:txBody>
      </p:sp>
      <p:sp>
        <p:nvSpPr>
          <p:cNvPr id="90" name="object 19">
            <a:extLst>
              <a:ext uri="{FF2B5EF4-FFF2-40B4-BE49-F238E27FC236}">
                <a16:creationId xmlns:a16="http://schemas.microsoft.com/office/drawing/2014/main" id="{0ED35790-2683-BB1F-331A-34862F355D64}"/>
              </a:ext>
            </a:extLst>
          </p:cNvPr>
          <p:cNvSpPr/>
          <p:nvPr/>
        </p:nvSpPr>
        <p:spPr>
          <a:xfrm>
            <a:off x="458730" y="5106266"/>
            <a:ext cx="544195" cy="342900"/>
          </a:xfrm>
          <a:custGeom>
            <a:avLst/>
            <a:gdLst/>
            <a:ahLst/>
            <a:cxnLst/>
            <a:rect l="l" t="t" r="r" b="b"/>
            <a:pathLst>
              <a:path w="544195" h="342900">
                <a:moveTo>
                  <a:pt x="0" y="342900"/>
                </a:moveTo>
                <a:lnTo>
                  <a:pt x="544068" y="342900"/>
                </a:lnTo>
                <a:lnTo>
                  <a:pt x="544068" y="0"/>
                </a:lnTo>
                <a:lnTo>
                  <a:pt x="0" y="0"/>
                </a:lnTo>
                <a:lnTo>
                  <a:pt x="0" y="342900"/>
                </a:lnTo>
                <a:close/>
              </a:path>
            </a:pathLst>
          </a:custGeom>
          <a:ln w="12192">
            <a:solidFill>
              <a:srgbClr val="6F6021"/>
            </a:solidFill>
          </a:ln>
        </p:spPr>
        <p:txBody>
          <a:bodyPr wrap="square" lIns="0" tIns="0" rIns="0" bIns="0" rtlCol="0"/>
          <a:lstStyle/>
          <a:p>
            <a:endParaRPr/>
          </a:p>
        </p:txBody>
      </p:sp>
      <p:sp>
        <p:nvSpPr>
          <p:cNvPr id="91" name="object 20">
            <a:extLst>
              <a:ext uri="{FF2B5EF4-FFF2-40B4-BE49-F238E27FC236}">
                <a16:creationId xmlns:a16="http://schemas.microsoft.com/office/drawing/2014/main" id="{C74C0B99-9868-5B85-03B4-95E6CF78D9A3}"/>
              </a:ext>
            </a:extLst>
          </p:cNvPr>
          <p:cNvSpPr/>
          <p:nvPr/>
        </p:nvSpPr>
        <p:spPr>
          <a:xfrm>
            <a:off x="458730" y="4511906"/>
            <a:ext cx="1324610" cy="594360"/>
          </a:xfrm>
          <a:custGeom>
            <a:avLst/>
            <a:gdLst/>
            <a:ahLst/>
            <a:cxnLst/>
            <a:rect l="l" t="t" r="r" b="b"/>
            <a:pathLst>
              <a:path w="1324610" h="594360">
                <a:moveTo>
                  <a:pt x="1324356" y="0"/>
                </a:moveTo>
                <a:lnTo>
                  <a:pt x="769493" y="0"/>
                </a:lnTo>
                <a:lnTo>
                  <a:pt x="0" y="594360"/>
                </a:lnTo>
                <a:lnTo>
                  <a:pt x="554863" y="594360"/>
                </a:lnTo>
                <a:lnTo>
                  <a:pt x="1324356" y="0"/>
                </a:lnTo>
                <a:close/>
              </a:path>
            </a:pathLst>
          </a:custGeom>
          <a:solidFill>
            <a:srgbClr val="CCB657"/>
          </a:solidFill>
        </p:spPr>
        <p:txBody>
          <a:bodyPr wrap="square" lIns="0" tIns="0" rIns="0" bIns="0" rtlCol="0"/>
          <a:lstStyle/>
          <a:p>
            <a:endParaRPr/>
          </a:p>
        </p:txBody>
      </p:sp>
      <p:sp>
        <p:nvSpPr>
          <p:cNvPr id="92" name="object 21">
            <a:extLst>
              <a:ext uri="{FF2B5EF4-FFF2-40B4-BE49-F238E27FC236}">
                <a16:creationId xmlns:a16="http://schemas.microsoft.com/office/drawing/2014/main" id="{0D0A668E-1248-C952-0D69-9AC115F5AEBD}"/>
              </a:ext>
            </a:extLst>
          </p:cNvPr>
          <p:cNvSpPr/>
          <p:nvPr/>
        </p:nvSpPr>
        <p:spPr>
          <a:xfrm>
            <a:off x="458730" y="4511906"/>
            <a:ext cx="1324610" cy="594360"/>
          </a:xfrm>
          <a:custGeom>
            <a:avLst/>
            <a:gdLst/>
            <a:ahLst/>
            <a:cxnLst/>
            <a:rect l="l" t="t" r="r" b="b"/>
            <a:pathLst>
              <a:path w="1324610" h="594360">
                <a:moveTo>
                  <a:pt x="0" y="594360"/>
                </a:moveTo>
                <a:lnTo>
                  <a:pt x="769493" y="0"/>
                </a:lnTo>
                <a:lnTo>
                  <a:pt x="1324356" y="0"/>
                </a:lnTo>
                <a:lnTo>
                  <a:pt x="554863" y="594360"/>
                </a:lnTo>
                <a:lnTo>
                  <a:pt x="0" y="594360"/>
                </a:lnTo>
                <a:close/>
              </a:path>
            </a:pathLst>
          </a:custGeom>
          <a:ln w="12192">
            <a:solidFill>
              <a:srgbClr val="6F6021"/>
            </a:solidFill>
          </a:ln>
        </p:spPr>
        <p:txBody>
          <a:bodyPr wrap="square" lIns="0" tIns="0" rIns="0" bIns="0" rtlCol="0"/>
          <a:lstStyle/>
          <a:p>
            <a:endParaRPr/>
          </a:p>
        </p:txBody>
      </p:sp>
      <p:sp>
        <p:nvSpPr>
          <p:cNvPr id="93" name="object 22">
            <a:extLst>
              <a:ext uri="{FF2B5EF4-FFF2-40B4-BE49-F238E27FC236}">
                <a16:creationId xmlns:a16="http://schemas.microsoft.com/office/drawing/2014/main" id="{9D87B857-066A-6AC9-C60A-5A69ADC38AAB}"/>
              </a:ext>
            </a:extLst>
          </p:cNvPr>
          <p:cNvSpPr/>
          <p:nvPr/>
        </p:nvSpPr>
        <p:spPr>
          <a:xfrm>
            <a:off x="1002798" y="4511906"/>
            <a:ext cx="780415" cy="937260"/>
          </a:xfrm>
          <a:custGeom>
            <a:avLst/>
            <a:gdLst/>
            <a:ahLst/>
            <a:cxnLst/>
            <a:rect l="l" t="t" r="r" b="b"/>
            <a:pathLst>
              <a:path w="780414" h="937260">
                <a:moveTo>
                  <a:pt x="780288" y="0"/>
                </a:moveTo>
                <a:lnTo>
                  <a:pt x="0" y="594613"/>
                </a:lnTo>
                <a:lnTo>
                  <a:pt x="0" y="937260"/>
                </a:lnTo>
                <a:lnTo>
                  <a:pt x="780288" y="342645"/>
                </a:lnTo>
                <a:lnTo>
                  <a:pt x="780288" y="0"/>
                </a:lnTo>
                <a:close/>
              </a:path>
            </a:pathLst>
          </a:custGeom>
          <a:solidFill>
            <a:srgbClr val="CCB657"/>
          </a:solidFill>
        </p:spPr>
        <p:txBody>
          <a:bodyPr wrap="square" lIns="0" tIns="0" rIns="0" bIns="0" rtlCol="0"/>
          <a:lstStyle/>
          <a:p>
            <a:endParaRPr/>
          </a:p>
        </p:txBody>
      </p:sp>
      <p:sp>
        <p:nvSpPr>
          <p:cNvPr id="94" name="object 23">
            <a:extLst>
              <a:ext uri="{FF2B5EF4-FFF2-40B4-BE49-F238E27FC236}">
                <a16:creationId xmlns:a16="http://schemas.microsoft.com/office/drawing/2014/main" id="{218D47D4-6432-730D-48B9-7A6C6E31E473}"/>
              </a:ext>
            </a:extLst>
          </p:cNvPr>
          <p:cNvSpPr/>
          <p:nvPr/>
        </p:nvSpPr>
        <p:spPr>
          <a:xfrm>
            <a:off x="1002798" y="4511906"/>
            <a:ext cx="780415" cy="937260"/>
          </a:xfrm>
          <a:custGeom>
            <a:avLst/>
            <a:gdLst/>
            <a:ahLst/>
            <a:cxnLst/>
            <a:rect l="l" t="t" r="r" b="b"/>
            <a:pathLst>
              <a:path w="780414" h="937260">
                <a:moveTo>
                  <a:pt x="780288" y="0"/>
                </a:moveTo>
                <a:lnTo>
                  <a:pt x="0" y="594613"/>
                </a:lnTo>
                <a:lnTo>
                  <a:pt x="0" y="937260"/>
                </a:lnTo>
                <a:lnTo>
                  <a:pt x="780288" y="342645"/>
                </a:lnTo>
                <a:lnTo>
                  <a:pt x="780288" y="0"/>
                </a:lnTo>
                <a:close/>
              </a:path>
            </a:pathLst>
          </a:custGeom>
          <a:ln w="12192">
            <a:solidFill>
              <a:srgbClr val="6F6021"/>
            </a:solidFill>
          </a:ln>
        </p:spPr>
        <p:txBody>
          <a:bodyPr wrap="square" lIns="0" tIns="0" rIns="0" bIns="0" rtlCol="0"/>
          <a:lstStyle/>
          <a:p>
            <a:endParaRPr/>
          </a:p>
        </p:txBody>
      </p:sp>
      <p:sp>
        <p:nvSpPr>
          <p:cNvPr id="95" name="object 33">
            <a:extLst>
              <a:ext uri="{FF2B5EF4-FFF2-40B4-BE49-F238E27FC236}">
                <a16:creationId xmlns:a16="http://schemas.microsoft.com/office/drawing/2014/main" id="{1ADEEC13-CD1C-B10C-519D-C80EDB6B6995}"/>
              </a:ext>
            </a:extLst>
          </p:cNvPr>
          <p:cNvSpPr txBox="1"/>
          <p:nvPr/>
        </p:nvSpPr>
        <p:spPr>
          <a:xfrm>
            <a:off x="1438790" y="5254855"/>
            <a:ext cx="1066165" cy="208279"/>
          </a:xfrm>
          <a:prstGeom prst="rect">
            <a:avLst/>
          </a:prstGeom>
        </p:spPr>
        <p:txBody>
          <a:bodyPr vert="horz" wrap="square" lIns="0" tIns="12700" rIns="0" bIns="0" rtlCol="0">
            <a:spAutoFit/>
          </a:bodyPr>
          <a:lstStyle/>
          <a:p>
            <a:pPr marL="12700">
              <a:lnSpc>
                <a:spcPct val="100000"/>
              </a:lnSpc>
              <a:spcBef>
                <a:spcPts val="100"/>
              </a:spcBef>
            </a:pPr>
            <a:r>
              <a:rPr sz="1200" b="1" dirty="0">
                <a:latin typeface="Calibri"/>
                <a:cs typeface="Calibri"/>
              </a:rPr>
              <a:t>XY</a:t>
            </a:r>
            <a:r>
              <a:rPr sz="1200" b="1" spc="-35" dirty="0">
                <a:latin typeface="Calibri"/>
                <a:cs typeface="Calibri"/>
              </a:rPr>
              <a:t> </a:t>
            </a:r>
            <a:r>
              <a:rPr sz="1200" b="1" spc="-5" dirty="0">
                <a:latin typeface="Calibri"/>
                <a:cs typeface="Calibri"/>
              </a:rPr>
              <a:t>Cross-section</a:t>
            </a:r>
            <a:endParaRPr sz="1200">
              <a:latin typeface="Calibri"/>
              <a:cs typeface="Calibri"/>
            </a:endParaRPr>
          </a:p>
        </p:txBody>
      </p:sp>
      <p:sp>
        <p:nvSpPr>
          <p:cNvPr id="96" name="object 7">
            <a:extLst>
              <a:ext uri="{FF2B5EF4-FFF2-40B4-BE49-F238E27FC236}">
                <a16:creationId xmlns:a16="http://schemas.microsoft.com/office/drawing/2014/main" id="{BB459788-0671-D4BA-B6DB-A3544D24EA92}"/>
              </a:ext>
            </a:extLst>
          </p:cNvPr>
          <p:cNvSpPr/>
          <p:nvPr/>
        </p:nvSpPr>
        <p:spPr>
          <a:xfrm>
            <a:off x="3213753" y="3715837"/>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97" name="object 62">
            <a:extLst>
              <a:ext uri="{FF2B5EF4-FFF2-40B4-BE49-F238E27FC236}">
                <a16:creationId xmlns:a16="http://schemas.microsoft.com/office/drawing/2014/main" id="{13E0425E-CEDF-CBC4-B34B-0CC3951920EA}"/>
              </a:ext>
            </a:extLst>
          </p:cNvPr>
          <p:cNvSpPr/>
          <p:nvPr/>
        </p:nvSpPr>
        <p:spPr>
          <a:xfrm>
            <a:off x="4058049" y="4276669"/>
            <a:ext cx="76200" cy="986155"/>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3402119" y="4503822"/>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endParaRPr sz="1400">
              <a:latin typeface="Calibri"/>
              <a:cs typeface="Calibri"/>
            </a:endParaRP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endParaRPr sz="1400">
              <a:latin typeface="Calibri"/>
              <a:cs typeface="Calibri"/>
            </a:endParaRPr>
          </a:p>
        </p:txBody>
      </p:sp>
      <p:sp>
        <p:nvSpPr>
          <p:cNvPr id="99" name="object 64">
            <a:extLst>
              <a:ext uri="{FF2B5EF4-FFF2-40B4-BE49-F238E27FC236}">
                <a16:creationId xmlns:a16="http://schemas.microsoft.com/office/drawing/2014/main" id="{ABAAA5DD-56CA-BF94-2180-F0866658B6B3}"/>
              </a:ext>
            </a:extLst>
          </p:cNvPr>
          <p:cNvSpPr/>
          <p:nvPr/>
        </p:nvSpPr>
        <p:spPr>
          <a:xfrm>
            <a:off x="4295793" y="4066357"/>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4815731" y="3825642"/>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4295793" y="4276669"/>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6294976" y="4631165"/>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03" name="Flecha: a la derecha 102">
            <a:extLst>
              <a:ext uri="{FF2B5EF4-FFF2-40B4-BE49-F238E27FC236}">
                <a16:creationId xmlns:a16="http://schemas.microsoft.com/office/drawing/2014/main" id="{9104F8E7-45F4-CD32-78F2-E3303B105AF2}"/>
              </a:ext>
            </a:extLst>
          </p:cNvPr>
          <p:cNvSpPr/>
          <p:nvPr/>
        </p:nvSpPr>
        <p:spPr>
          <a:xfrm>
            <a:off x="2652837" y="4587205"/>
            <a:ext cx="390281" cy="177451"/>
          </a:xfrm>
          <a:prstGeom prst="rightArrow">
            <a:avLst/>
          </a:prstGeom>
          <a:solidFill>
            <a:schemeClr val="accent2"/>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1" name="object 7">
            <a:extLst>
              <a:ext uri="{FF2B5EF4-FFF2-40B4-BE49-F238E27FC236}">
                <a16:creationId xmlns:a16="http://schemas.microsoft.com/office/drawing/2014/main" id="{06801468-6F27-A16A-64E3-D7AD4B6B6B96}"/>
              </a:ext>
            </a:extLst>
          </p:cNvPr>
          <p:cNvSpPr/>
          <p:nvPr/>
        </p:nvSpPr>
        <p:spPr>
          <a:xfrm>
            <a:off x="7749273" y="3715837"/>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114" name="object 64">
            <a:extLst>
              <a:ext uri="{FF2B5EF4-FFF2-40B4-BE49-F238E27FC236}">
                <a16:creationId xmlns:a16="http://schemas.microsoft.com/office/drawing/2014/main" id="{D9E5D738-CA47-1898-E0D8-DFBC514F5A50}"/>
              </a:ext>
            </a:extLst>
          </p:cNvPr>
          <p:cNvSpPr/>
          <p:nvPr/>
        </p:nvSpPr>
        <p:spPr>
          <a:xfrm>
            <a:off x="8831313" y="4066357"/>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9351251" y="3825642"/>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8831313" y="4276669"/>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10830496" y="4631165"/>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20" name="object 73">
            <a:extLst>
              <a:ext uri="{FF2B5EF4-FFF2-40B4-BE49-F238E27FC236}">
                <a16:creationId xmlns:a16="http://schemas.microsoft.com/office/drawing/2014/main" id="{C699977C-9138-F9B9-E43D-0CCB01AEB75F}"/>
              </a:ext>
            </a:extLst>
          </p:cNvPr>
          <p:cNvSpPr txBox="1"/>
          <p:nvPr/>
        </p:nvSpPr>
        <p:spPr>
          <a:xfrm>
            <a:off x="7749273" y="4983731"/>
            <a:ext cx="39061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lang="es-ES" sz="2350" dirty="0">
              <a:latin typeface="Times New Roman"/>
              <a:cs typeface="Times New Roman"/>
            </a:endParaRPr>
          </a:p>
          <a:p>
            <a:pPr marL="18415">
              <a:lnSpc>
                <a:spcPct val="100000"/>
              </a:lnSpc>
            </a:pPr>
            <a:r>
              <a:rPr lang="es-ES" sz="1600" b="1" spc="-10" dirty="0" err="1">
                <a:latin typeface="Calibri"/>
                <a:cs typeface="Calibri"/>
              </a:rPr>
              <a:t>Slab</a:t>
            </a:r>
            <a:endParaRPr sz="1600" dirty="0">
              <a:latin typeface="Calibri"/>
              <a:cs typeface="Calibri"/>
            </a:endParaRPr>
          </a:p>
        </p:txBody>
      </p:sp>
      <p:sp>
        <p:nvSpPr>
          <p:cNvPr id="112" name="object 62">
            <a:extLst>
              <a:ext uri="{FF2B5EF4-FFF2-40B4-BE49-F238E27FC236}">
                <a16:creationId xmlns:a16="http://schemas.microsoft.com/office/drawing/2014/main" id="{04561701-4B4F-F208-98F6-2DAB5C1138D3}"/>
              </a:ext>
            </a:extLst>
          </p:cNvPr>
          <p:cNvSpPr/>
          <p:nvPr/>
        </p:nvSpPr>
        <p:spPr>
          <a:xfrm>
            <a:off x="8933783" y="4287133"/>
            <a:ext cx="56259" cy="694989"/>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1" name="object 62">
            <a:extLst>
              <a:ext uri="{FF2B5EF4-FFF2-40B4-BE49-F238E27FC236}">
                <a16:creationId xmlns:a16="http://schemas.microsoft.com/office/drawing/2014/main" id="{CCA3B0D6-0C9E-B4A6-FA43-1AB5F1821674}"/>
              </a:ext>
            </a:extLst>
          </p:cNvPr>
          <p:cNvSpPr/>
          <p:nvPr/>
        </p:nvSpPr>
        <p:spPr>
          <a:xfrm>
            <a:off x="8591080" y="4982122"/>
            <a:ext cx="55008" cy="613272"/>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13" name="object 63">
            <a:extLst>
              <a:ext uri="{FF2B5EF4-FFF2-40B4-BE49-F238E27FC236}">
                <a16:creationId xmlns:a16="http://schemas.microsoft.com/office/drawing/2014/main" id="{6394166D-0522-24AD-E666-39FE8A3FDC24}"/>
              </a:ext>
            </a:extLst>
          </p:cNvPr>
          <p:cNvSpPr txBox="1"/>
          <p:nvPr/>
        </p:nvSpPr>
        <p:spPr>
          <a:xfrm>
            <a:off x="8709867" y="5180039"/>
            <a:ext cx="674053" cy="228909"/>
          </a:xfrm>
          <a:prstGeom prst="rect">
            <a:avLst/>
          </a:prstGeom>
        </p:spPr>
        <p:txBody>
          <a:bodyPr vert="horz" wrap="square" lIns="0" tIns="13335" rIns="0" bIns="0" rtlCol="0">
            <a:spAutoFit/>
          </a:bodyPr>
          <a:lstStyle/>
          <a:p>
            <a:pPr marR="3175">
              <a:lnSpc>
                <a:spcPct val="100000"/>
              </a:lnSpc>
              <a:spcBef>
                <a:spcPts val="105"/>
              </a:spcBef>
            </a:pPr>
            <a:r>
              <a:rPr lang="es-ES" sz="1400" dirty="0" err="1">
                <a:latin typeface="Calibri"/>
                <a:cs typeface="Calibri"/>
              </a:rPr>
              <a:t>h_slab</a:t>
            </a:r>
            <a:endParaRPr sz="1400" dirty="0">
              <a:latin typeface="Calibri"/>
              <a:cs typeface="Calibri"/>
            </a:endParaRPr>
          </a:p>
        </p:txBody>
      </p:sp>
      <p:sp>
        <p:nvSpPr>
          <p:cNvPr id="122" name="object 63">
            <a:extLst>
              <a:ext uri="{FF2B5EF4-FFF2-40B4-BE49-F238E27FC236}">
                <a16:creationId xmlns:a16="http://schemas.microsoft.com/office/drawing/2014/main" id="{B589EB7D-B26E-4239-A5C2-F96DBBE82162}"/>
              </a:ext>
            </a:extLst>
          </p:cNvPr>
          <p:cNvSpPr txBox="1"/>
          <p:nvPr/>
        </p:nvSpPr>
        <p:spPr>
          <a:xfrm>
            <a:off x="9064251" y="4282997"/>
            <a:ext cx="1380175" cy="228909"/>
          </a:xfrm>
          <a:prstGeom prst="rect">
            <a:avLst/>
          </a:prstGeom>
        </p:spPr>
        <p:txBody>
          <a:bodyPr vert="horz" wrap="square" lIns="0" tIns="13335" rIns="0" bIns="0" rtlCol="0">
            <a:spAutoFit/>
          </a:bodyPr>
          <a:lstStyle/>
          <a:p>
            <a:pPr marR="3175">
              <a:lnSpc>
                <a:spcPct val="100000"/>
              </a:lnSpc>
              <a:spcBef>
                <a:spcPts val="105"/>
              </a:spcBef>
            </a:pPr>
            <a:r>
              <a:rPr lang="es-ES" sz="1400" spc="-10" dirty="0" err="1">
                <a:latin typeface="Calibri"/>
                <a:cs typeface="Calibri"/>
              </a:rPr>
              <a:t>h_core</a:t>
            </a:r>
            <a:r>
              <a:rPr lang="es-ES" sz="1400" spc="-10" dirty="0">
                <a:latin typeface="Calibri"/>
                <a:cs typeface="Calibri"/>
              </a:rPr>
              <a:t> </a:t>
            </a:r>
            <a:endParaRPr sz="14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9567382" y="5549983"/>
            <a:ext cx="2174506" cy="369332"/>
          </a:xfrm>
          <a:prstGeom prst="rect">
            <a:avLst/>
          </a:prstGeom>
          <a:noFill/>
        </p:spPr>
        <p:txBody>
          <a:bodyPr wrap="none" rtlCol="0">
            <a:spAutoFit/>
          </a:bodyPr>
          <a:lstStyle/>
          <a:p>
            <a:pPr algn="ctr"/>
            <a:r>
              <a:rPr lang="en-US" b="1" dirty="0"/>
              <a:t>shallow</a:t>
            </a:r>
            <a:r>
              <a:rPr lang="en-US" dirty="0"/>
              <a:t> () waveguide</a:t>
            </a:r>
          </a:p>
        </p:txBody>
      </p:sp>
      <p:sp>
        <p:nvSpPr>
          <p:cNvPr id="8" name="CuadroTexto 7">
            <a:extLst>
              <a:ext uri="{FF2B5EF4-FFF2-40B4-BE49-F238E27FC236}">
                <a16:creationId xmlns:a16="http://schemas.microsoft.com/office/drawing/2014/main" id="{7336B5D8-2D70-3E7A-336D-AF55EC49DEB8}"/>
              </a:ext>
            </a:extLst>
          </p:cNvPr>
          <p:cNvSpPr txBox="1"/>
          <p:nvPr/>
        </p:nvSpPr>
        <p:spPr>
          <a:xfrm>
            <a:off x="5280886" y="5549983"/>
            <a:ext cx="2404607" cy="369332"/>
          </a:xfrm>
          <a:prstGeom prst="rect">
            <a:avLst/>
          </a:prstGeom>
          <a:noFill/>
        </p:spPr>
        <p:txBody>
          <a:bodyPr wrap="square">
            <a:spAutoFit/>
          </a:bodyPr>
          <a:lstStyle/>
          <a:p>
            <a:pPr algn="ctr"/>
            <a:r>
              <a:rPr lang="en-US" b="1" dirty="0"/>
              <a:t>deep (strip)</a:t>
            </a:r>
            <a:r>
              <a:rPr lang="en-US" dirty="0"/>
              <a:t> waveguide</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Effective index of a waveguide</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dirty="0"/>
              <a:t>LAB 0.1. MODESOLVER</a:t>
            </a:r>
          </a:p>
        </p:txBody>
      </p:sp>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materials, output, results.</a:t>
            </a:r>
          </a:p>
          <a:p>
            <a:pPr marL="342900" indent="-342900" algn="just">
              <a:buFont typeface="Arial" panose="020B0604020202020204" pitchFamily="34" charset="0"/>
              <a:buChar char="•"/>
            </a:pPr>
            <a:r>
              <a:rPr lang="en-US" sz="2000" dirty="0"/>
              <a:t>Explain how to run a simulation for a particular cross-section. </a:t>
            </a:r>
          </a:p>
          <a:p>
            <a:pPr marL="342900" indent="-342900" algn="just">
              <a:buFont typeface="Arial" panose="020B0604020202020204" pitchFamily="34" charset="0"/>
              <a:buChar char="•"/>
            </a:pPr>
            <a:r>
              <a:rPr lang="en-US" sz="2000" dirty="0"/>
              <a:t>Showcase how to change between shallow and deep waveguide.</a:t>
            </a:r>
          </a:p>
          <a:p>
            <a:pPr marL="342900" indent="-342900" algn="just">
              <a:buFont typeface="Arial" panose="020B0604020202020204" pitchFamily="34" charset="0"/>
              <a:buChar char="•"/>
            </a:pPr>
            <a:r>
              <a:rPr lang="en-US" sz="2000" dirty="0"/>
              <a:t>Describe how to change the wavelength and width for the waveguide analysis.</a:t>
            </a:r>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#1: </a:t>
            </a:r>
            <a:r>
              <a:rPr lang="en-US" sz="2000" dirty="0"/>
              <a:t>waveguide width 1.2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dirty="0"/>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03F3B83-8AE9-4086-925C-01535FA22BD0}"/>
              </a:ext>
            </a:extLst>
          </p:cNvPr>
          <p:cNvSpPr>
            <a:spLocks noGrp="1"/>
          </p:cNvSpPr>
          <p:nvPr>
            <p:ph type="title"/>
          </p:nvPr>
        </p:nvSpPr>
        <p:spPr>
          <a:xfrm>
            <a:off x="590550" y="206752"/>
            <a:ext cx="10991850" cy="615553"/>
          </a:xfrm>
        </p:spPr>
        <p:txBody>
          <a:bodyPr/>
          <a:lstStyle/>
          <a:p>
            <a:r>
              <a:rPr lang="en-US" sz="2000" dirty="0"/>
              <a:t>Learning outcome #1 – Effective index of a waveguide</a:t>
            </a:r>
            <a:br>
              <a:rPr lang="es-ES" sz="2000" spc="-5" dirty="0">
                <a:latin typeface="+mj-lt"/>
                <a:cs typeface="Lucida Sans"/>
              </a:rPr>
            </a:br>
            <a:endParaRPr lang="es-ES" dirty="0"/>
          </a:p>
        </p:txBody>
      </p:sp>
      <p:sp>
        <p:nvSpPr>
          <p:cNvPr id="3" name="Marcador de texto 2">
            <a:extLst>
              <a:ext uri="{FF2B5EF4-FFF2-40B4-BE49-F238E27FC236}">
                <a16:creationId xmlns:a16="http://schemas.microsoft.com/office/drawing/2014/main" id="{D50FC1E5-A8C4-4616-B0CE-408D93AAA026}"/>
              </a:ext>
            </a:extLst>
          </p:cNvPr>
          <p:cNvSpPr>
            <a:spLocks noGrp="1"/>
          </p:cNvSpPr>
          <p:nvPr>
            <p:ph type="body" idx="1"/>
          </p:nvPr>
        </p:nvSpPr>
        <p:spPr>
          <a:xfrm>
            <a:off x="618067" y="1313821"/>
            <a:ext cx="10744200" cy="553998"/>
          </a:xfrm>
        </p:spPr>
        <p:txBody>
          <a:bodyPr/>
          <a:lstStyle/>
          <a:p>
            <a:r>
              <a:rPr lang="es-ES" sz="1200" dirty="0"/>
              <a:t>Podemos observar que hay 3 modos que se propagan. El índice efectivo de la cuarta componente es inferior al índice efectivo del </a:t>
            </a:r>
            <a:r>
              <a:rPr lang="es-ES" sz="1200" dirty="0" err="1"/>
              <a:t>cladding</a:t>
            </a:r>
            <a:r>
              <a:rPr lang="es-ES" sz="1200" dirty="0"/>
              <a:t> (1.44), por lo que ese modo no se propagará.</a:t>
            </a:r>
          </a:p>
          <a:p>
            <a:endParaRPr lang="es-ES" sz="1200" dirty="0"/>
          </a:p>
        </p:txBody>
      </p:sp>
      <p:sp>
        <p:nvSpPr>
          <p:cNvPr id="5" name="Marcador de número de diapositiva 4">
            <a:extLst>
              <a:ext uri="{FF2B5EF4-FFF2-40B4-BE49-F238E27FC236}">
                <a16:creationId xmlns:a16="http://schemas.microsoft.com/office/drawing/2014/main" id="{33FCF10C-59B4-4245-8DAF-1DC825C1094E}"/>
              </a:ext>
            </a:extLst>
          </p:cNvPr>
          <p:cNvSpPr>
            <a:spLocks noGrp="1"/>
          </p:cNvSpPr>
          <p:nvPr>
            <p:ph type="sldNum" sz="quarter" idx="7"/>
          </p:nvPr>
        </p:nvSpPr>
        <p:spPr/>
        <p:txBody>
          <a:bodyPr/>
          <a:lstStyle/>
          <a:p>
            <a:fld id="{B6F15528-21DE-4FAA-801E-634DDDAF4B2B}" type="slidenum">
              <a:rPr lang="es-ES" smtClean="0"/>
              <a:t>4</a:t>
            </a:fld>
            <a:endParaRPr lang="es-ES"/>
          </a:p>
        </p:txBody>
      </p:sp>
      <p:pic>
        <p:nvPicPr>
          <p:cNvPr id="11" name="Imagen 10">
            <a:extLst>
              <a:ext uri="{FF2B5EF4-FFF2-40B4-BE49-F238E27FC236}">
                <a16:creationId xmlns:a16="http://schemas.microsoft.com/office/drawing/2014/main" id="{745C5713-9FF8-4F24-B3A1-01DBDE5BFBB6}"/>
              </a:ext>
            </a:extLst>
          </p:cNvPr>
          <p:cNvPicPr>
            <a:picLocks noChangeAspect="1"/>
          </p:cNvPicPr>
          <p:nvPr/>
        </p:nvPicPr>
        <p:blipFill>
          <a:blip r:embed="rId2"/>
          <a:stretch>
            <a:fillRect/>
          </a:stretch>
        </p:blipFill>
        <p:spPr>
          <a:xfrm>
            <a:off x="4114800" y="781079"/>
            <a:ext cx="3505200" cy="361191"/>
          </a:xfrm>
          <a:prstGeom prst="rect">
            <a:avLst/>
          </a:prstGeom>
        </p:spPr>
      </p:pic>
      <p:sp>
        <p:nvSpPr>
          <p:cNvPr id="13" name="CuadroTexto 12">
            <a:extLst>
              <a:ext uri="{FF2B5EF4-FFF2-40B4-BE49-F238E27FC236}">
                <a16:creationId xmlns:a16="http://schemas.microsoft.com/office/drawing/2014/main" id="{4C2F61D6-3BA7-4913-A71A-F598C2037723}"/>
              </a:ext>
            </a:extLst>
          </p:cNvPr>
          <p:cNvSpPr txBox="1"/>
          <p:nvPr/>
        </p:nvSpPr>
        <p:spPr>
          <a:xfrm>
            <a:off x="3712211" y="2316855"/>
            <a:ext cx="6125632" cy="276999"/>
          </a:xfrm>
          <a:prstGeom prst="rect">
            <a:avLst/>
          </a:prstGeom>
          <a:noFill/>
        </p:spPr>
        <p:txBody>
          <a:bodyPr wrap="square">
            <a:spAutoFit/>
          </a:bodyPr>
          <a:lstStyle/>
          <a:p>
            <a:r>
              <a:rPr lang="es-ES" sz="1200" dirty="0"/>
              <a:t>Los modos 0 y 2 corresponden a modos TE y los modos 1 y 3 a modos TM.</a:t>
            </a:r>
          </a:p>
        </p:txBody>
      </p:sp>
      <p:sp>
        <p:nvSpPr>
          <p:cNvPr id="14" name="CuadroTexto 13">
            <a:extLst>
              <a:ext uri="{FF2B5EF4-FFF2-40B4-BE49-F238E27FC236}">
                <a16:creationId xmlns:a16="http://schemas.microsoft.com/office/drawing/2014/main" id="{D21517BF-BA73-4A65-81AF-02FB13FB8A2B}"/>
              </a:ext>
            </a:extLst>
          </p:cNvPr>
          <p:cNvSpPr txBox="1"/>
          <p:nvPr/>
        </p:nvSpPr>
        <p:spPr>
          <a:xfrm>
            <a:off x="533400" y="815984"/>
            <a:ext cx="4210050" cy="276999"/>
          </a:xfrm>
          <a:prstGeom prst="rect">
            <a:avLst/>
          </a:prstGeom>
          <a:noFill/>
        </p:spPr>
        <p:txBody>
          <a:bodyPr wrap="square" rtlCol="0">
            <a:spAutoFit/>
          </a:bodyPr>
          <a:lstStyle/>
          <a:p>
            <a:r>
              <a:rPr lang="es-ES" sz="1200" dirty="0"/>
              <a:t>Índice efectivo de los cuatro primeros modos:</a:t>
            </a:r>
          </a:p>
        </p:txBody>
      </p:sp>
      <p:pic>
        <p:nvPicPr>
          <p:cNvPr id="16" name="Imagen 15">
            <a:extLst>
              <a:ext uri="{FF2B5EF4-FFF2-40B4-BE49-F238E27FC236}">
                <a16:creationId xmlns:a16="http://schemas.microsoft.com/office/drawing/2014/main" id="{5DB2889D-FF9E-433F-AB28-83223F649F7F}"/>
              </a:ext>
            </a:extLst>
          </p:cNvPr>
          <p:cNvPicPr>
            <a:picLocks noChangeAspect="1"/>
          </p:cNvPicPr>
          <p:nvPr/>
        </p:nvPicPr>
        <p:blipFill>
          <a:blip r:embed="rId3"/>
          <a:stretch>
            <a:fillRect/>
          </a:stretch>
        </p:blipFill>
        <p:spPr>
          <a:xfrm>
            <a:off x="618746" y="1821658"/>
            <a:ext cx="2590121" cy="1260526"/>
          </a:xfrm>
          <a:prstGeom prst="rect">
            <a:avLst/>
          </a:prstGeom>
        </p:spPr>
      </p:pic>
      <p:pic>
        <p:nvPicPr>
          <p:cNvPr id="18" name="Imagen 17">
            <a:extLst>
              <a:ext uri="{FF2B5EF4-FFF2-40B4-BE49-F238E27FC236}">
                <a16:creationId xmlns:a16="http://schemas.microsoft.com/office/drawing/2014/main" id="{EC5F2DA8-2FDA-4ABD-B3FE-58B77A57A775}"/>
              </a:ext>
            </a:extLst>
          </p:cNvPr>
          <p:cNvPicPr>
            <a:picLocks noChangeAspect="1"/>
          </p:cNvPicPr>
          <p:nvPr/>
        </p:nvPicPr>
        <p:blipFill>
          <a:blip r:embed="rId4"/>
          <a:stretch>
            <a:fillRect/>
          </a:stretch>
        </p:blipFill>
        <p:spPr>
          <a:xfrm>
            <a:off x="3502555" y="3088196"/>
            <a:ext cx="2447924" cy="1647479"/>
          </a:xfrm>
          <a:prstGeom prst="rect">
            <a:avLst/>
          </a:prstGeom>
        </p:spPr>
      </p:pic>
      <p:pic>
        <p:nvPicPr>
          <p:cNvPr id="20" name="Imagen 19">
            <a:extLst>
              <a:ext uri="{FF2B5EF4-FFF2-40B4-BE49-F238E27FC236}">
                <a16:creationId xmlns:a16="http://schemas.microsoft.com/office/drawing/2014/main" id="{0802046A-6161-487D-918F-CEADD8B5C022}"/>
              </a:ext>
            </a:extLst>
          </p:cNvPr>
          <p:cNvPicPr>
            <a:picLocks noChangeAspect="1"/>
          </p:cNvPicPr>
          <p:nvPr/>
        </p:nvPicPr>
        <p:blipFill>
          <a:blip r:embed="rId5"/>
          <a:stretch>
            <a:fillRect/>
          </a:stretch>
        </p:blipFill>
        <p:spPr>
          <a:xfrm>
            <a:off x="9311640" y="3042890"/>
            <a:ext cx="2447925" cy="1647479"/>
          </a:xfrm>
          <a:prstGeom prst="rect">
            <a:avLst/>
          </a:prstGeom>
        </p:spPr>
      </p:pic>
      <p:pic>
        <p:nvPicPr>
          <p:cNvPr id="22" name="Imagen 21">
            <a:extLst>
              <a:ext uri="{FF2B5EF4-FFF2-40B4-BE49-F238E27FC236}">
                <a16:creationId xmlns:a16="http://schemas.microsoft.com/office/drawing/2014/main" id="{6FBA303D-2A6B-4166-B4D6-0145C2D99CF6}"/>
              </a:ext>
            </a:extLst>
          </p:cNvPr>
          <p:cNvPicPr>
            <a:picLocks noChangeAspect="1"/>
          </p:cNvPicPr>
          <p:nvPr/>
        </p:nvPicPr>
        <p:blipFill>
          <a:blip r:embed="rId6"/>
          <a:stretch>
            <a:fillRect/>
          </a:stretch>
        </p:blipFill>
        <p:spPr>
          <a:xfrm>
            <a:off x="3502085" y="4901911"/>
            <a:ext cx="2448394" cy="1647479"/>
          </a:xfrm>
          <a:prstGeom prst="rect">
            <a:avLst/>
          </a:prstGeom>
        </p:spPr>
      </p:pic>
      <p:pic>
        <p:nvPicPr>
          <p:cNvPr id="24" name="Imagen 23">
            <a:extLst>
              <a:ext uri="{FF2B5EF4-FFF2-40B4-BE49-F238E27FC236}">
                <a16:creationId xmlns:a16="http://schemas.microsoft.com/office/drawing/2014/main" id="{B651E258-1CFD-43D3-949B-1FE4691264BE}"/>
              </a:ext>
            </a:extLst>
          </p:cNvPr>
          <p:cNvPicPr>
            <a:picLocks noChangeAspect="1"/>
          </p:cNvPicPr>
          <p:nvPr/>
        </p:nvPicPr>
        <p:blipFill>
          <a:blip r:embed="rId7"/>
          <a:stretch>
            <a:fillRect/>
          </a:stretch>
        </p:blipFill>
        <p:spPr>
          <a:xfrm>
            <a:off x="9472506" y="4956752"/>
            <a:ext cx="2332389" cy="1537795"/>
          </a:xfrm>
          <a:prstGeom prst="rect">
            <a:avLst/>
          </a:prstGeom>
        </p:spPr>
      </p:pic>
      <p:sp>
        <p:nvSpPr>
          <p:cNvPr id="27" name="CuadroTexto 26">
            <a:extLst>
              <a:ext uri="{FF2B5EF4-FFF2-40B4-BE49-F238E27FC236}">
                <a16:creationId xmlns:a16="http://schemas.microsoft.com/office/drawing/2014/main" id="{79787E3E-0762-421A-809A-3021A06058B1}"/>
              </a:ext>
            </a:extLst>
          </p:cNvPr>
          <p:cNvSpPr txBox="1"/>
          <p:nvPr/>
        </p:nvSpPr>
        <p:spPr>
          <a:xfrm>
            <a:off x="533399" y="3263226"/>
            <a:ext cx="2968685" cy="1384995"/>
          </a:xfrm>
          <a:prstGeom prst="rect">
            <a:avLst/>
          </a:prstGeom>
          <a:noFill/>
        </p:spPr>
        <p:txBody>
          <a:bodyPr wrap="square" rtlCol="0">
            <a:spAutoFit/>
          </a:bodyPr>
          <a:lstStyle/>
          <a:p>
            <a:r>
              <a:rPr lang="es-ES" sz="1200" b="1" dirty="0"/>
              <a:t>Modo 0 (TE) </a:t>
            </a:r>
          </a:p>
          <a:p>
            <a:r>
              <a:rPr lang="es-ES" sz="1200" dirty="0"/>
              <a:t>Es el modo fundamental TE. Está altamente confinado en el centro de la guía, presentando un único lóbulo central de alta intensidad. Esto indica que la máxima intensidad del campo electromagnético viaja concentrada dentro del núcleo de la guía.</a:t>
            </a:r>
          </a:p>
        </p:txBody>
      </p:sp>
      <p:sp>
        <p:nvSpPr>
          <p:cNvPr id="6" name="CuadroTexto 5">
            <a:extLst>
              <a:ext uri="{FF2B5EF4-FFF2-40B4-BE49-F238E27FC236}">
                <a16:creationId xmlns:a16="http://schemas.microsoft.com/office/drawing/2014/main" id="{107E3010-282F-F29D-D411-DF4BA24AB5C2}"/>
              </a:ext>
            </a:extLst>
          </p:cNvPr>
          <p:cNvSpPr txBox="1"/>
          <p:nvPr/>
        </p:nvSpPr>
        <p:spPr>
          <a:xfrm>
            <a:off x="537619" y="4845064"/>
            <a:ext cx="2971800" cy="1754326"/>
          </a:xfrm>
          <a:prstGeom prst="rect">
            <a:avLst/>
          </a:prstGeom>
          <a:noFill/>
        </p:spPr>
        <p:txBody>
          <a:bodyPr wrap="square" rtlCol="0">
            <a:spAutoFit/>
          </a:bodyPr>
          <a:lstStyle/>
          <a:p>
            <a:r>
              <a:rPr lang="es-ES" sz="1200" b="1" dirty="0"/>
              <a:t>Modo 2 (TE)</a:t>
            </a:r>
          </a:p>
          <a:p>
            <a:r>
              <a:rPr lang="es-ES" sz="1200" dirty="0"/>
              <a:t>Es un modo de orden superior. A diferencia del modo 0, presenta dos lóbulos distintos (uno rojo y uno azul) distribuidos horizontalmente, lo que indica un cambio de fase de 180º entre ellos. El campo electromagnético se extiende más hacia el </a:t>
            </a:r>
            <a:r>
              <a:rPr lang="es-ES" sz="1200" dirty="0" err="1"/>
              <a:t>cladding</a:t>
            </a:r>
            <a:r>
              <a:rPr lang="es-ES" sz="1200" dirty="0"/>
              <a:t>, por lo que está menos confinado que el modo fundamental.</a:t>
            </a:r>
          </a:p>
        </p:txBody>
      </p:sp>
      <p:sp>
        <p:nvSpPr>
          <p:cNvPr id="8" name="CuadroTexto 7">
            <a:extLst>
              <a:ext uri="{FF2B5EF4-FFF2-40B4-BE49-F238E27FC236}">
                <a16:creationId xmlns:a16="http://schemas.microsoft.com/office/drawing/2014/main" id="{627AC1D5-E6AA-26F9-7707-F008851EE7DB}"/>
              </a:ext>
            </a:extLst>
          </p:cNvPr>
          <p:cNvSpPr txBox="1"/>
          <p:nvPr/>
        </p:nvSpPr>
        <p:spPr>
          <a:xfrm>
            <a:off x="6369580" y="3253133"/>
            <a:ext cx="2762250" cy="1384995"/>
          </a:xfrm>
          <a:prstGeom prst="rect">
            <a:avLst/>
          </a:prstGeom>
          <a:noFill/>
        </p:spPr>
        <p:txBody>
          <a:bodyPr wrap="square" rtlCol="0">
            <a:spAutoFit/>
          </a:bodyPr>
          <a:lstStyle/>
          <a:p>
            <a:r>
              <a:rPr lang="es-ES" sz="1200" b="1" dirty="0"/>
              <a:t>Modo 1 (TM)</a:t>
            </a:r>
          </a:p>
          <a:p>
            <a:r>
              <a:rPr lang="es-ES" sz="1200" dirty="0"/>
              <a:t>Corresponde al modo fundamental TM. Al igual que el modo 0, está fuertemente confinado en la estructura geométrica. Muestra un solo lóbulo principal en la distribución del campo, pero con polarización magnética transversal.</a:t>
            </a:r>
          </a:p>
        </p:txBody>
      </p:sp>
      <p:sp>
        <p:nvSpPr>
          <p:cNvPr id="9" name="CuadroTexto 8">
            <a:extLst>
              <a:ext uri="{FF2B5EF4-FFF2-40B4-BE49-F238E27FC236}">
                <a16:creationId xmlns:a16="http://schemas.microsoft.com/office/drawing/2014/main" id="{20CA2996-5FED-857C-1794-F03462812B05}"/>
              </a:ext>
            </a:extLst>
          </p:cNvPr>
          <p:cNvSpPr txBox="1"/>
          <p:nvPr/>
        </p:nvSpPr>
        <p:spPr>
          <a:xfrm>
            <a:off x="6369580" y="4845064"/>
            <a:ext cx="3102926" cy="1569660"/>
          </a:xfrm>
          <a:prstGeom prst="rect">
            <a:avLst/>
          </a:prstGeom>
          <a:noFill/>
        </p:spPr>
        <p:txBody>
          <a:bodyPr wrap="square" rtlCol="0">
            <a:spAutoFit/>
          </a:bodyPr>
          <a:lstStyle/>
          <a:p>
            <a:r>
              <a:rPr lang="es-ES" sz="1200" b="1" dirty="0"/>
              <a:t>Modo 3 (TM)</a:t>
            </a:r>
          </a:p>
          <a:p>
            <a:r>
              <a:rPr lang="es-ES" sz="1200" dirty="0"/>
              <a:t>Es un modo TM de orden superior con muy bajo confinamiento; el campo se dispersa por casi toda el área de simulación. Como se calculó arriba, su índice efectivo es inferior al del </a:t>
            </a:r>
            <a:r>
              <a:rPr lang="es-ES" sz="1200" i="1" dirty="0" err="1"/>
              <a:t>cladding</a:t>
            </a:r>
            <a:r>
              <a:rPr lang="es-ES" sz="1200" dirty="0"/>
              <a:t>, lo que significa que este modo está en corte y no se propagará (se comportará como un modo radiante).</a:t>
            </a:r>
          </a:p>
        </p:txBody>
      </p:sp>
    </p:spTree>
    <p:extLst>
      <p:ext uri="{BB962C8B-B14F-4D97-AF65-F5344CB8AC3E}">
        <p14:creationId xmlns:p14="http://schemas.microsoft.com/office/powerpoint/2010/main" val="6136481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Wavelength behavior</a:t>
            </a:r>
            <a:br>
              <a:rPr lang="es-ES" sz="2500" spc="-5" dirty="0">
                <a:latin typeface="+mj-lt"/>
                <a:cs typeface="Lucida Sans"/>
              </a:rPr>
            </a:br>
            <a:r>
              <a:rPr lang="en-US" b="0" dirty="0"/>
              <a:t>Wavelength 1.5-1.6 µm (step 0.02 µm) – width 1.2 µm</a:t>
            </a:r>
            <a:endParaRPr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165" y="6156884"/>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a:xfrm>
            <a:off x="609759" y="6257884"/>
            <a:ext cx="2743200" cy="184666"/>
          </a:xfrm>
        </p:spPr>
        <p:txBody>
          <a:bodyPr/>
          <a:lstStyle/>
          <a:p>
            <a:pPr marL="12700">
              <a:spcBef>
                <a:spcPts val="15"/>
              </a:spcBef>
            </a:pPr>
            <a:r>
              <a:rPr lang="es-ES" spc="-5" dirty="0"/>
              <a:t>LAB 0.1. MODESOLVER</a:t>
            </a:r>
          </a:p>
        </p:txBody>
      </p:sp>
      <p:sp>
        <p:nvSpPr>
          <p:cNvPr id="2" name="CuadroTexto 1">
            <a:extLst>
              <a:ext uri="{FF2B5EF4-FFF2-40B4-BE49-F238E27FC236}">
                <a16:creationId xmlns:a16="http://schemas.microsoft.com/office/drawing/2014/main" id="{CA5F0FDF-2A95-453B-4ECA-AEB637FF2694}"/>
              </a:ext>
            </a:extLst>
          </p:cNvPr>
          <p:cNvSpPr txBox="1"/>
          <p:nvPr/>
        </p:nvSpPr>
        <p:spPr>
          <a:xfrm>
            <a:off x="609600" y="4661161"/>
            <a:ext cx="11199971" cy="2123658"/>
          </a:xfrm>
          <a:prstGeom prst="rect">
            <a:avLst/>
          </a:prstGeom>
          <a:solidFill>
            <a:schemeClr val="bg1">
              <a:lumMod val="95000"/>
            </a:schemeClr>
          </a:solidFill>
          <a:ln w="28575">
            <a:solidFill>
              <a:srgbClr val="E0700D"/>
            </a:solidFill>
          </a:ln>
        </p:spPr>
        <p:txBody>
          <a:bodyPr wrap="square" rtlCol="0">
            <a:spAutoFit/>
          </a:bodyPr>
          <a:lstStyle/>
          <a:p>
            <a:pPr algn="just"/>
            <a:r>
              <a:rPr lang="en-US" sz="1100" dirty="0">
                <a:latin typeface="Arial" panose="020B0604020202020204" pitchFamily="34" charset="0"/>
                <a:cs typeface="Arial" panose="020B0604020202020204" pitchFamily="34" charset="0"/>
              </a:rPr>
              <a:t>Comment results (neff changes this way with wavelength, comparison between different waveguide cross-sections …)</a:t>
            </a:r>
          </a:p>
          <a:p>
            <a:pPr algn="just"/>
            <a:endParaRPr lang="es-ES_tradnl" sz="1100" dirty="0">
              <a:latin typeface="Arial" panose="020B0604020202020204" pitchFamily="34" charset="0"/>
              <a:cs typeface="Arial" panose="020B0604020202020204" pitchFamily="34" charset="0"/>
            </a:endParaRPr>
          </a:p>
          <a:p>
            <a:pPr algn="just"/>
            <a:r>
              <a:rPr lang="es-ES_tradnl" sz="1100" dirty="0">
                <a:latin typeface="Arial" panose="020B0604020202020204" pitchFamily="34" charset="0"/>
                <a:cs typeface="Arial" panose="020B0604020202020204" pitchFamily="34" charset="0"/>
              </a:rPr>
              <a:t>En primer lugar, podemos observar en ambas gráficas que el índice efectivo disminuye a medida que aumenta la longitud de onda para todos los modos. Esto ocurre porque, a mayores longitudes de onda, el modo óptico aumenta su tamaño y pierde confinamiento en el núcleo. Al estar menos confinado, una mayor fracción del campo electromagnético penetra y viaja por el </a:t>
            </a:r>
            <a:r>
              <a:rPr lang="es-ES_tradnl" sz="1100" dirty="0" err="1">
                <a:latin typeface="Arial" panose="020B0604020202020204" pitchFamily="34" charset="0"/>
                <a:cs typeface="Arial" panose="020B0604020202020204" pitchFamily="34" charset="0"/>
              </a:rPr>
              <a:t>cladding</a:t>
            </a:r>
            <a:r>
              <a:rPr lang="es-ES_tradnl" sz="1100" dirty="0">
                <a:latin typeface="Arial" panose="020B0604020202020204" pitchFamily="34" charset="0"/>
                <a:cs typeface="Arial" panose="020B0604020202020204" pitchFamily="34" charset="0"/>
              </a:rPr>
              <a:t> (SiO2), el cual tiene un índice de refracción menor, haciendo que el índice efectivo global del modo decaiga.</a:t>
            </a:r>
          </a:p>
          <a:p>
            <a:pPr algn="just"/>
            <a:endParaRPr lang="es-ES_tradnl" sz="1100" dirty="0">
              <a:latin typeface="Arial" panose="020B0604020202020204" pitchFamily="34" charset="0"/>
              <a:cs typeface="Arial" panose="020B0604020202020204" pitchFamily="34" charset="0"/>
            </a:endParaRPr>
          </a:p>
          <a:p>
            <a:pPr algn="just"/>
            <a:r>
              <a:rPr lang="es-ES_tradnl" sz="1100" dirty="0">
                <a:latin typeface="Arial" panose="020B0604020202020204" pitchFamily="34" charset="0"/>
                <a:cs typeface="Arial" panose="020B0604020202020204" pitchFamily="34" charset="0"/>
              </a:rPr>
              <a:t>Por otra parte, podemos observar que para el caso de la </a:t>
            </a:r>
            <a:r>
              <a:rPr lang="es-ES_tradnl" sz="1100" dirty="0" err="1">
                <a:latin typeface="Arial" panose="020B0604020202020204" pitchFamily="34" charset="0"/>
                <a:cs typeface="Arial" panose="020B0604020202020204" pitchFamily="34" charset="0"/>
              </a:rPr>
              <a:t>shallow</a:t>
            </a:r>
            <a:r>
              <a:rPr lang="es-ES_tradnl" sz="1100" dirty="0">
                <a:latin typeface="Arial" panose="020B0604020202020204" pitchFamily="34" charset="0"/>
                <a:cs typeface="Arial" panose="020B0604020202020204" pitchFamily="34" charset="0"/>
              </a:rPr>
              <a:t> </a:t>
            </a:r>
            <a:r>
              <a:rPr lang="es-ES_tradnl" sz="1100" dirty="0" err="1">
                <a:latin typeface="Arial" panose="020B0604020202020204" pitchFamily="34" charset="0"/>
                <a:cs typeface="Arial" panose="020B0604020202020204" pitchFamily="34" charset="0"/>
              </a:rPr>
              <a:t>waveguide</a:t>
            </a:r>
            <a:r>
              <a:rPr lang="es-ES_tradnl" sz="1100" dirty="0">
                <a:latin typeface="Arial" panose="020B0604020202020204" pitchFamily="34" charset="0"/>
                <a:cs typeface="Arial" panose="020B0604020202020204" pitchFamily="34" charset="0"/>
              </a:rPr>
              <a:t> hay una propagación de los 4 modos analizados, ya que tienen un índice efectivo mayor al índice efectivo del </a:t>
            </a:r>
            <a:r>
              <a:rPr lang="es-ES_tradnl" sz="1100" dirty="0" err="1">
                <a:latin typeface="Arial" panose="020B0604020202020204" pitchFamily="34" charset="0"/>
                <a:cs typeface="Arial" panose="020B0604020202020204" pitchFamily="34" charset="0"/>
              </a:rPr>
              <a:t>cladding</a:t>
            </a:r>
            <a:r>
              <a:rPr lang="es-ES_tradnl" sz="1100" dirty="0">
                <a:latin typeface="Arial" panose="020B0604020202020204" pitchFamily="34" charset="0"/>
                <a:cs typeface="Arial" panose="020B0604020202020204" pitchFamily="34" charset="0"/>
              </a:rPr>
              <a:t>. Esto se debe a que tiene un mayor espacio la guía y se pueden propagar modos de orden mayor.</a:t>
            </a:r>
          </a:p>
          <a:p>
            <a:pPr algn="just"/>
            <a:endParaRPr lang="es-ES_tradnl" sz="1100" dirty="0">
              <a:latin typeface="Arial" panose="020B0604020202020204" pitchFamily="34" charset="0"/>
              <a:cs typeface="Arial" panose="020B0604020202020204" pitchFamily="34" charset="0"/>
            </a:endParaRPr>
          </a:p>
          <a:p>
            <a:pPr algn="just"/>
            <a:r>
              <a:rPr lang="es-ES_tradnl" sz="1100" dirty="0">
                <a:latin typeface="Arial" panose="020B0604020202020204" pitchFamily="34" charset="0"/>
                <a:cs typeface="Arial" panose="020B0604020202020204" pitchFamily="34" charset="0"/>
              </a:rPr>
              <a:t>En el caso de la </a:t>
            </a:r>
            <a:r>
              <a:rPr lang="es-ES_tradnl" sz="1100" dirty="0" err="1">
                <a:latin typeface="Arial" panose="020B0604020202020204" pitchFamily="34" charset="0"/>
                <a:cs typeface="Arial" panose="020B0604020202020204" pitchFamily="34" charset="0"/>
              </a:rPr>
              <a:t>deep</a:t>
            </a:r>
            <a:r>
              <a:rPr lang="es-ES_tradnl" sz="1100" dirty="0">
                <a:latin typeface="Arial" panose="020B0604020202020204" pitchFamily="34" charset="0"/>
                <a:cs typeface="Arial" panose="020B0604020202020204" pitchFamily="34" charset="0"/>
              </a:rPr>
              <a:t> </a:t>
            </a:r>
            <a:r>
              <a:rPr lang="es-ES_tradnl" sz="1100" dirty="0" err="1">
                <a:latin typeface="Arial" panose="020B0604020202020204" pitchFamily="34" charset="0"/>
                <a:cs typeface="Arial" panose="020B0604020202020204" pitchFamily="34" charset="0"/>
              </a:rPr>
              <a:t>waveguide</a:t>
            </a:r>
            <a:r>
              <a:rPr lang="es-ES_tradnl" sz="1100" dirty="0">
                <a:latin typeface="Arial" panose="020B0604020202020204" pitchFamily="34" charset="0"/>
                <a:cs typeface="Arial" panose="020B0604020202020204" pitchFamily="34" charset="0"/>
              </a:rPr>
              <a:t> se puede observar que hay dos modos que no se propagan, los correspondientes al índice 2 y 3 de la solución, los cuales corresponden a los modos de orden mayor. Esto es debido a que sus índices efectivos son inferiores a los del </a:t>
            </a:r>
            <a:r>
              <a:rPr lang="es-ES_tradnl" sz="1100" dirty="0" err="1">
                <a:latin typeface="Arial" panose="020B0604020202020204" pitchFamily="34" charset="0"/>
                <a:cs typeface="Arial" panose="020B0604020202020204" pitchFamily="34" charset="0"/>
              </a:rPr>
              <a:t>cladding</a:t>
            </a:r>
            <a:r>
              <a:rPr lang="es-ES_tradnl" sz="1100" dirty="0">
                <a:latin typeface="Arial" panose="020B0604020202020204" pitchFamily="34" charset="0"/>
                <a:cs typeface="Arial" panose="020B0604020202020204" pitchFamily="34" charset="0"/>
              </a:rPr>
              <a:t>, lo cual hace que estén en corte. Solo los modos de orden inferior (0 y 1), al tener un índice efectivo mayor, se propagarán adecuadamente al estar más confinados dentro del </a:t>
            </a:r>
            <a:r>
              <a:rPr lang="es-ES_tradnl" sz="1100" dirty="0" err="1">
                <a:latin typeface="Arial" panose="020B0604020202020204" pitchFamily="34" charset="0"/>
                <a:cs typeface="Arial" panose="020B0604020202020204" pitchFamily="34" charset="0"/>
              </a:rPr>
              <a:t>core</a:t>
            </a:r>
            <a:r>
              <a:rPr lang="es-ES_tradnl" sz="1100" dirty="0">
                <a:latin typeface="Arial" panose="020B0604020202020204" pitchFamily="34" charset="0"/>
                <a:cs typeface="Arial" panose="020B0604020202020204" pitchFamily="34" charset="0"/>
              </a:rPr>
              <a:t>.</a:t>
            </a:r>
          </a:p>
        </p:txBody>
      </p:sp>
      <p:sp>
        <p:nvSpPr>
          <p:cNvPr id="5" name="Rectángulo 4">
            <a:extLst>
              <a:ext uri="{FF2B5EF4-FFF2-40B4-BE49-F238E27FC236}">
                <a16:creationId xmlns:a16="http://schemas.microsoft.com/office/drawing/2014/main" id="{88F19863-7091-B8CA-F848-DBEA5CEEA027}"/>
              </a:ext>
            </a:extLst>
          </p:cNvPr>
          <p:cNvSpPr/>
          <p:nvPr/>
        </p:nvSpPr>
        <p:spPr>
          <a:xfrm>
            <a:off x="609600" y="1219200"/>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3C4E7A47-20E2-3C27-D841-5A665642F6E2}"/>
              </a:ext>
            </a:extLst>
          </p:cNvPr>
          <p:cNvSpPr txBox="1"/>
          <p:nvPr/>
        </p:nvSpPr>
        <p:spPr>
          <a:xfrm>
            <a:off x="2284524" y="2472105"/>
            <a:ext cx="1982722" cy="1477328"/>
          </a:xfrm>
          <a:prstGeom prst="rect">
            <a:avLst/>
          </a:prstGeom>
          <a:noFill/>
        </p:spPr>
        <p:txBody>
          <a:bodyPr wrap="none" rtlCol="0">
            <a:spAutoFit/>
          </a:bodyPr>
          <a:lstStyle/>
          <a:p>
            <a:pPr algn="ctr"/>
            <a:r>
              <a:rPr lang="en-US" b="1" dirty="0"/>
              <a:t>shallow</a:t>
            </a:r>
            <a:r>
              <a:rPr lang="en-US" dirty="0"/>
              <a:t> waveguide</a:t>
            </a:r>
          </a:p>
          <a:p>
            <a:pPr algn="ctr"/>
            <a:endParaRPr lang="en-US" dirty="0"/>
          </a:p>
          <a:p>
            <a:pPr algn="ctr"/>
            <a:r>
              <a:rPr lang="en-US" dirty="0"/>
              <a:t>Paste plot here</a:t>
            </a:r>
          </a:p>
          <a:p>
            <a:pPr algn="ctr"/>
            <a:endParaRPr lang="en-US" dirty="0"/>
          </a:p>
          <a:p>
            <a:pPr algn="ctr"/>
            <a:r>
              <a:rPr lang="en-US" dirty="0"/>
              <a:t>Plot </a:t>
            </a:r>
            <a:r>
              <a:rPr lang="en-US" dirty="0" err="1"/>
              <a:t>neff</a:t>
            </a:r>
            <a:r>
              <a:rPr lang="en-US" dirty="0"/>
              <a:t> vs lambda</a:t>
            </a:r>
          </a:p>
        </p:txBody>
      </p:sp>
      <p:sp>
        <p:nvSpPr>
          <p:cNvPr id="7" name="Rectángulo 6">
            <a:extLst>
              <a:ext uri="{FF2B5EF4-FFF2-40B4-BE49-F238E27FC236}">
                <a16:creationId xmlns:a16="http://schemas.microsoft.com/office/drawing/2014/main" id="{21F754A5-65BC-14A3-5F55-75716FFA9027}"/>
              </a:ext>
            </a:extLst>
          </p:cNvPr>
          <p:cNvSpPr/>
          <p:nvPr/>
        </p:nvSpPr>
        <p:spPr>
          <a:xfrm>
            <a:off x="6477000" y="1219200"/>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D9C65D4-5494-F5CE-1094-CB0A32C33876}"/>
              </a:ext>
            </a:extLst>
          </p:cNvPr>
          <p:cNvSpPr txBox="1"/>
          <p:nvPr/>
        </p:nvSpPr>
        <p:spPr>
          <a:xfrm>
            <a:off x="8151925" y="2472105"/>
            <a:ext cx="1982722" cy="1477328"/>
          </a:xfrm>
          <a:prstGeom prst="rect">
            <a:avLst/>
          </a:prstGeom>
          <a:noFill/>
        </p:spPr>
        <p:txBody>
          <a:bodyPr wrap="none" rtlCol="0">
            <a:spAutoFit/>
          </a:bodyPr>
          <a:lstStyle/>
          <a:p>
            <a:pPr algn="ctr"/>
            <a:r>
              <a:rPr lang="en-US" b="1" dirty="0"/>
              <a:t>deep</a:t>
            </a:r>
            <a:r>
              <a:rPr lang="en-US" dirty="0"/>
              <a:t> waveguide</a:t>
            </a:r>
          </a:p>
          <a:p>
            <a:pPr algn="ctr"/>
            <a:endParaRPr lang="en-US" dirty="0"/>
          </a:p>
          <a:p>
            <a:pPr algn="ctr"/>
            <a:r>
              <a:rPr lang="en-US" dirty="0"/>
              <a:t>Paste plot here</a:t>
            </a:r>
          </a:p>
          <a:p>
            <a:pPr algn="ctr"/>
            <a:endParaRPr lang="en-US" dirty="0"/>
          </a:p>
          <a:p>
            <a:pPr algn="ctr"/>
            <a:r>
              <a:rPr lang="en-US" dirty="0"/>
              <a:t>Plot </a:t>
            </a:r>
            <a:r>
              <a:rPr lang="en-US" dirty="0" err="1"/>
              <a:t>neff</a:t>
            </a:r>
            <a:r>
              <a:rPr lang="en-US" dirty="0"/>
              <a:t> vs lambda</a:t>
            </a:r>
          </a:p>
        </p:txBody>
      </p:sp>
      <p:sp>
        <p:nvSpPr>
          <p:cNvPr id="9" name="CuadroTexto 8">
            <a:extLst>
              <a:ext uri="{FF2B5EF4-FFF2-40B4-BE49-F238E27FC236}">
                <a16:creationId xmlns:a16="http://schemas.microsoft.com/office/drawing/2014/main" id="{8BD4C233-B5D9-B6AA-93A8-CF2F130CFF9C}"/>
              </a:ext>
            </a:extLst>
          </p:cNvPr>
          <p:cNvSpPr txBox="1"/>
          <p:nvPr/>
        </p:nvSpPr>
        <p:spPr>
          <a:xfrm>
            <a:off x="643148" y="4203712"/>
            <a:ext cx="2269787" cy="369332"/>
          </a:xfrm>
          <a:prstGeom prst="rect">
            <a:avLst/>
          </a:prstGeom>
          <a:noFill/>
        </p:spPr>
        <p:txBody>
          <a:bodyPr wrap="square">
            <a:spAutoFit/>
          </a:bodyPr>
          <a:lstStyle/>
          <a:p>
            <a:r>
              <a:rPr lang="en-US" dirty="0"/>
              <a:t>slab = 150nm</a:t>
            </a:r>
            <a:endParaRPr lang="es-ES" dirty="0"/>
          </a:p>
        </p:txBody>
      </p:sp>
      <p:pic>
        <p:nvPicPr>
          <p:cNvPr id="12" name="Imagen 11">
            <a:extLst>
              <a:ext uri="{FF2B5EF4-FFF2-40B4-BE49-F238E27FC236}">
                <a16:creationId xmlns:a16="http://schemas.microsoft.com/office/drawing/2014/main" id="{1442DA1B-EA25-434D-A064-66155EFDDF30}"/>
              </a:ext>
            </a:extLst>
          </p:cNvPr>
          <p:cNvPicPr>
            <a:picLocks noChangeAspect="1"/>
          </p:cNvPicPr>
          <p:nvPr/>
        </p:nvPicPr>
        <p:blipFill>
          <a:blip r:embed="rId5"/>
          <a:stretch>
            <a:fillRect/>
          </a:stretch>
        </p:blipFill>
        <p:spPr>
          <a:xfrm>
            <a:off x="6663550" y="1404036"/>
            <a:ext cx="5033752" cy="2936355"/>
          </a:xfrm>
          <a:prstGeom prst="rect">
            <a:avLst/>
          </a:prstGeom>
        </p:spPr>
      </p:pic>
      <p:pic>
        <p:nvPicPr>
          <p:cNvPr id="14" name="Imagen 13">
            <a:extLst>
              <a:ext uri="{FF2B5EF4-FFF2-40B4-BE49-F238E27FC236}">
                <a16:creationId xmlns:a16="http://schemas.microsoft.com/office/drawing/2014/main" id="{1130CD49-47AC-42AC-98EF-76BD14EA4B63}"/>
              </a:ext>
            </a:extLst>
          </p:cNvPr>
          <p:cNvPicPr>
            <a:picLocks noChangeAspect="1"/>
          </p:cNvPicPr>
          <p:nvPr/>
        </p:nvPicPr>
        <p:blipFill>
          <a:blip r:embed="rId6"/>
          <a:stretch>
            <a:fillRect/>
          </a:stretch>
        </p:blipFill>
        <p:spPr>
          <a:xfrm>
            <a:off x="711360" y="1317953"/>
            <a:ext cx="5080000" cy="2963333"/>
          </a:xfrm>
          <a:prstGeom prst="rect">
            <a:avLst/>
          </a:prstGeom>
        </p:spPr>
      </p:pic>
    </p:spTree>
    <p:extLst>
      <p:ext uri="{BB962C8B-B14F-4D97-AF65-F5344CB8AC3E}">
        <p14:creationId xmlns:p14="http://schemas.microsoft.com/office/powerpoint/2010/main" val="37123560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6</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753</TotalTime>
  <Words>848</Words>
  <Application>Microsoft Macintosh PowerPoint</Application>
  <PresentationFormat>Panorámica</PresentationFormat>
  <Paragraphs>84</Paragraphs>
  <Slides>6</Slides>
  <Notes>2</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6</vt:i4>
      </vt:variant>
    </vt:vector>
  </HeadingPairs>
  <TitlesOfParts>
    <vt:vector size="13" baseType="lpstr">
      <vt:lpstr>Aptos</vt:lpstr>
      <vt:lpstr>Arial</vt:lpstr>
      <vt:lpstr>Calibri</vt:lpstr>
      <vt:lpstr>Lucida Sans</vt:lpstr>
      <vt:lpstr>Times New Roman</vt:lpstr>
      <vt:lpstr>Wingdings</vt:lpstr>
      <vt:lpstr>Office Theme</vt:lpstr>
      <vt:lpstr>Presentación de PowerPoint</vt:lpstr>
      <vt:lpstr>Instructions General</vt:lpstr>
      <vt:lpstr>Learning outcome #1 – Effective index of a waveguide </vt:lpstr>
      <vt:lpstr>Learning outcome #1 – Effective index of a waveguide </vt:lpstr>
      <vt:lpstr>Learning outcome #2 – Wavelength behavior Wavelength 1.5-1.6 µm (step 0.02 µm) – width 1.2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Sergi Nacher Muñoz</cp:lastModifiedBy>
  <cp:revision>15</cp:revision>
  <dcterms:created xsi:type="dcterms:W3CDTF">2025-01-27T02:46:57Z</dcterms:created>
  <dcterms:modified xsi:type="dcterms:W3CDTF">2026-03-02T22:48:17Z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